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charts/chart1.xml" ContentType="application/vnd.openxmlformats-officedocument.drawingml.chart+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Lst>
  <p:notesMasterIdLst>
    <p:notesMasterId r:id="rId10"/>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notesMaster" Target="notesMasters/notesMaster1.xml"/><Relationship Id="rId11" Type="http://schemas.openxmlformats.org/officeDocument/2006/relationships/presProps" Target="presProps.xml"/><Relationship Id="rId12" Type="http://schemas.openxmlformats.org/officeDocument/2006/relationships/viewProps" Target="viewProps.xml"/><Relationship Id="rId13" Type="http://schemas.openxmlformats.org/officeDocument/2006/relationships/theme" Target="theme/theme1.xml"/><Relationship Id="rId14"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Imm — Owner</c:v>
                </c:pt>
              </c:strCache>
            </c:strRef>
          </c:tx>
          <c:spPr>
            <a:solidFill>
              <a:srgbClr val="E8834A"/>
            </a:solidFill>
            <a:effectLst/>
          </c:spPr>
          <c:invertIfNegative val="0"/>
          <c:dLbls>
            <c:numFmt formatCode="#,##0" sourceLinked="0"/>
            <c:txPr>
              <a:bodyPr/>
              <a:lstStyle/>
              <a:p>
                <a:pPr>
                  <a:defRPr b="0" i="0" strike="noStrike" sz="800" u="none">
                    <a:solidFill>
                      <a:srgbClr val="FFFFFF"/>
                    </a:solidFill>
                    <a:latin typeface="Arial"/>
                  </a:defRPr>
                </a:pPr>
              </a:p>
            </c:txPr>
            <c:showLegendKey val="0"/>
            <c:showVal val="1"/>
            <c:showCatName val="0"/>
            <c:showSerName val="0"/>
            <c:showPercent val="0"/>
            <c:showBubbleSize val="0"/>
            <c:showLeaderLines val="0"/>
          </c:dLbls>
          <c:cat>
            <c:multiLvlStrRef>
              <c:f>Sheet1!$A$2:$A$5</c:f>
              <c:multiLvlStrCache>
                <c:ptCount val="4"/>
                <c:lvl>
                  <c:pt idx="0">
                    <c:v>Montreal</c:v>
                  </c:pt>
                  <c:pt idx="1">
                    <c:v>Toronto</c:v>
                  </c:pt>
                  <c:pt idx="2">
                    <c:v>Edmonton</c:v>
                  </c:pt>
                  <c:pt idx="3">
                    <c:v>Vancouver</c:v>
                  </c:pt>
                </c:lvl>
              </c:multiLvlStrCache>
            </c:multiLvlStrRef>
          </c:cat>
          <c:val>
            <c:numRef>
              <c:f>Sheet1!$B$2:$B$5</c:f>
              <c:numCache>
                <c:formatCode>General</c:formatCode>
                <c:ptCount val="4"/>
                <c:pt idx="0">
                  <c:v>19.3</c:v>
                </c:pt>
                <c:pt idx="1">
                  <c:v>23.2</c:v>
                </c:pt>
                <c:pt idx="2">
                  <c:v>20.5</c:v>
                </c:pt>
                <c:pt idx="3">
                  <c:v>22.8</c:v>
                </c:pt>
              </c:numCache>
            </c:numRef>
          </c:val>
        </c:ser>
        <c:ser>
          <c:idx val="1"/>
          <c:order val="1"/>
          <c:tx>
            <c:strRef>
              <c:f>Sheet1!$C$1</c:f>
              <c:strCache>
                <c:ptCount val="1"/>
                <c:pt idx="0">
                  <c:v>Non-imm — Owner</c:v>
                </c:pt>
              </c:strCache>
            </c:strRef>
          </c:tx>
          <c:spPr>
            <a:solidFill>
              <a:srgbClr val="5B9BD5"/>
            </a:solidFill>
            <a:effectLst/>
          </c:spPr>
          <c:invertIfNegative val="0"/>
          <c:dLbls>
            <c:numFmt formatCode="#,##0" sourceLinked="0"/>
            <c:txPr>
              <a:bodyPr/>
              <a:lstStyle/>
              <a:p>
                <a:pPr>
                  <a:defRPr b="0" i="0" strike="noStrike" sz="800" u="none">
                    <a:solidFill>
                      <a:srgbClr val="FFFFFF"/>
                    </a:solidFill>
                    <a:latin typeface="Arial"/>
                  </a:defRPr>
                </a:pPr>
              </a:p>
            </c:txPr>
            <c:showLegendKey val="0"/>
            <c:showVal val="1"/>
            <c:showCatName val="0"/>
            <c:showSerName val="0"/>
            <c:showPercent val="0"/>
            <c:showBubbleSize val="0"/>
            <c:showLeaderLines val="0"/>
          </c:dLbls>
          <c:cat>
            <c:multiLvlStrRef>
              <c:f>Sheet1!$A$2:$A$5</c:f>
              <c:multiLvlStrCache>
                <c:ptCount val="4"/>
                <c:lvl>
                  <c:pt idx="0">
                    <c:v>Montreal</c:v>
                  </c:pt>
                  <c:pt idx="1">
                    <c:v>Toronto</c:v>
                  </c:pt>
                  <c:pt idx="2">
                    <c:v>Edmonton</c:v>
                  </c:pt>
                  <c:pt idx="3">
                    <c:v>Vancouver</c:v>
                  </c:pt>
                </c:lvl>
              </c:multiLvlStrCache>
            </c:multiLvlStrRef>
          </c:cat>
          <c:val>
            <c:numRef>
              <c:f>Sheet1!$C$2:$C$5</c:f>
              <c:numCache>
                <c:formatCode>General</c:formatCode>
                <c:ptCount val="4"/>
                <c:pt idx="0">
                  <c:v>14.9</c:v>
                </c:pt>
                <c:pt idx="1">
                  <c:v>17.6</c:v>
                </c:pt>
                <c:pt idx="2">
                  <c:v>17.5</c:v>
                </c:pt>
                <c:pt idx="3">
                  <c:v>17.8</c:v>
                </c:pt>
              </c:numCache>
            </c:numRef>
          </c:val>
        </c:ser>
        <c:ser>
          <c:idx val="2"/>
          <c:order val="2"/>
          <c:tx>
            <c:strRef>
              <c:f>Sheet1!$D$1</c:f>
              <c:strCache>
                <c:ptCount val="1"/>
                <c:pt idx="0">
                  <c:v>Imm — Renter</c:v>
                </c:pt>
              </c:strCache>
            </c:strRef>
          </c:tx>
          <c:spPr>
            <a:solidFill>
              <a:srgbClr val="C46030"/>
            </a:solidFill>
            <a:effectLst/>
          </c:spPr>
          <c:invertIfNegative val="0"/>
          <c:dLbls>
            <c:numFmt formatCode="#,##0" sourceLinked="0"/>
            <c:txPr>
              <a:bodyPr/>
              <a:lstStyle/>
              <a:p>
                <a:pPr>
                  <a:defRPr b="0" i="0" strike="noStrike" sz="800" u="none">
                    <a:solidFill>
                      <a:srgbClr val="FFFFFF"/>
                    </a:solidFill>
                    <a:latin typeface="Arial"/>
                  </a:defRPr>
                </a:pPr>
              </a:p>
            </c:txPr>
            <c:showLegendKey val="0"/>
            <c:showVal val="1"/>
            <c:showCatName val="0"/>
            <c:showSerName val="0"/>
            <c:showPercent val="0"/>
            <c:showBubbleSize val="0"/>
            <c:showLeaderLines val="0"/>
          </c:dLbls>
          <c:cat>
            <c:multiLvlStrRef>
              <c:f>Sheet1!$A$2:$A$5</c:f>
              <c:multiLvlStrCache>
                <c:ptCount val="4"/>
                <c:lvl>
                  <c:pt idx="0">
                    <c:v>Montreal</c:v>
                  </c:pt>
                  <c:pt idx="1">
                    <c:v>Toronto</c:v>
                  </c:pt>
                  <c:pt idx="2">
                    <c:v>Edmonton</c:v>
                  </c:pt>
                  <c:pt idx="3">
                    <c:v>Vancouver</c:v>
                  </c:pt>
                </c:lvl>
              </c:multiLvlStrCache>
            </c:multiLvlStrRef>
          </c:cat>
          <c:val>
            <c:numRef>
              <c:f>Sheet1!$D$2:$D$5</c:f>
              <c:numCache>
                <c:formatCode>General</c:formatCode>
                <c:ptCount val="4"/>
                <c:pt idx="0">
                  <c:v>21.1</c:v>
                </c:pt>
                <c:pt idx="1">
                  <c:v>26.7</c:v>
                </c:pt>
                <c:pt idx="2">
                  <c:v>23.7</c:v>
                </c:pt>
                <c:pt idx="3">
                  <c:v>25.9</c:v>
                </c:pt>
              </c:numCache>
            </c:numRef>
          </c:val>
        </c:ser>
        <c:ser>
          <c:idx val="3"/>
          <c:order val="3"/>
          <c:tx>
            <c:strRef>
              <c:f>Sheet1!$E$1</c:f>
              <c:strCache>
                <c:ptCount val="1"/>
                <c:pt idx="0">
                  <c:v>Non-imm — Renter</c:v>
                </c:pt>
              </c:strCache>
            </c:strRef>
          </c:tx>
          <c:spPr>
            <a:solidFill>
              <a:srgbClr val="3A6EA5"/>
            </a:solidFill>
            <a:effectLst/>
          </c:spPr>
          <c:invertIfNegative val="0"/>
          <c:dLbls>
            <c:numFmt formatCode="#,##0" sourceLinked="0"/>
            <c:txPr>
              <a:bodyPr/>
              <a:lstStyle/>
              <a:p>
                <a:pPr>
                  <a:defRPr b="0" i="0" strike="noStrike" sz="800" u="none">
                    <a:solidFill>
                      <a:srgbClr val="FFFFFF"/>
                    </a:solidFill>
                    <a:latin typeface="Arial"/>
                  </a:defRPr>
                </a:pPr>
              </a:p>
            </c:txPr>
            <c:showLegendKey val="0"/>
            <c:showVal val="1"/>
            <c:showCatName val="0"/>
            <c:showSerName val="0"/>
            <c:showPercent val="0"/>
            <c:showBubbleSize val="0"/>
            <c:showLeaderLines val="0"/>
          </c:dLbls>
          <c:cat>
            <c:multiLvlStrRef>
              <c:f>Sheet1!$A$2:$A$5</c:f>
              <c:multiLvlStrCache>
                <c:ptCount val="4"/>
                <c:lvl>
                  <c:pt idx="0">
                    <c:v>Montreal</c:v>
                  </c:pt>
                  <c:pt idx="1">
                    <c:v>Toronto</c:v>
                  </c:pt>
                  <c:pt idx="2">
                    <c:v>Edmonton</c:v>
                  </c:pt>
                  <c:pt idx="3">
                    <c:v>Vancouver</c:v>
                  </c:pt>
                </c:lvl>
              </c:multiLvlStrCache>
            </c:multiLvlStrRef>
          </c:cat>
          <c:val>
            <c:numRef>
              <c:f>Sheet1!$E$2:$E$5</c:f>
              <c:numCache>
                <c:formatCode>General</c:formatCode>
                <c:ptCount val="4"/>
                <c:pt idx="0">
                  <c:v>21.9</c:v>
                </c:pt>
                <c:pt idx="1">
                  <c:v>27.3</c:v>
                </c:pt>
                <c:pt idx="2">
                  <c:v>26.3</c:v>
                </c:pt>
                <c:pt idx="3">
                  <c:v>26.2</c:v>
                </c:pt>
              </c:numCache>
            </c:numRef>
          </c:val>
        </c:ser>
        <c:dLbls>
          <c:numFmt formatCode="#,##0" sourceLinked="0"/>
          <c:txPr>
            <a:bodyPr/>
            <a:lstStyle/>
            <a:p>
              <a:pPr>
                <a:defRPr b="0" i="0" strike="noStrike" sz="800" u="none">
                  <a:solidFill>
                    <a:srgbClr val="FFFFFF"/>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9A9890"/>
                </a:solidFill>
                <a:latin typeface="Arial"/>
              </a:defRPr>
            </a:pPr>
            <a:endParaRPr lang="en-US"/>
          </a:p>
        </c:txPr>
        <c:crossAx val="2094734552"/>
        <c:crosses val="autoZero"/>
        <c:auto val="1"/>
        <c:lblAlgn val="ctr"/>
        <c:noMultiLvlLbl val="1"/>
      </c:catAx>
      <c:valAx>
        <c:axId val="2094734552"/>
        <c:scaling>
          <c:orientation val="minMax"/>
          <c:max val="32"/>
          <c:min val="0"/>
        </c:scaling>
        <c:delete val="0"/>
        <c:axPos val="l"/>
        <c:majorGridlines>
          <c:spPr>
            <a:ln w="6350" cap="flat">
              <a:solidFill>
                <a:srgbClr val="2A2D38"/>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9A9890"/>
                </a:solidFill>
                <a:latin typeface="Arial"/>
              </a:defRPr>
            </a:pPr>
            <a:endParaRPr lang="en-US"/>
          </a:p>
        </c:txPr>
        <c:crossAx val="2094734554"/>
        <c:crosses val="autoZero"/>
        <c:crossBetween val="between"/>
      </c:valAx>
      <c:spPr>
        <a:solidFill>
          <a:srgbClr val="0F1117"/>
        </a:solidFill>
        <a:ln>
          <a:noFill/>
        </a:ln>
        <a:effectLst/>
      </c:spPr>
    </c:plotArea>
    <c:legend>
      <c:legendPos val="b"/>
      <c:overlay val="0"/>
      <c:txPr>
        <a:bodyPr/>
        <a:lstStyle/>
        <a:p>
          <a:pPr>
            <a:defRPr sz="1000">
              <a:solidFill>
                <a:srgbClr val="7A7870"/>
              </a:solidFill>
            </a:defRPr>
          </a:pPr>
          <a:endParaRPr lang="en-US"/>
        </a:p>
      </c:txPr>
    </c:legend>
    <c:plotVisOnly val="1"/>
    <c:dispBlanksAs val="span"/>
  </c:chart>
  <c:spPr>
    <a:solidFill>
      <a:srgbClr val="0F1117"/>
    </a:solid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1117"/>
        </a:solidFill>
      </p:bgPr>
    </p:bg>
    <p:spTree>
      <p:nvGrpSpPr>
        <p:cNvPr id="1" name=""/>
        <p:cNvGrpSpPr/>
        <p:nvPr/>
      </p:nvGrpSpPr>
      <p:grpSpPr>
        <a:xfrm>
          <a:off x="0" y="0"/>
          <a:ext cx="0" cy="0"/>
          <a:chOff x="0" y="0"/>
          <a:chExt cx="0" cy="0"/>
        </a:xfrm>
      </p:grpSpPr>
      <p:sp>
        <p:nvSpPr>
          <p:cNvPr id="2" name="Shape 0"/>
          <p:cNvSpPr/>
          <p:nvPr/>
        </p:nvSpPr>
        <p:spPr>
          <a:xfrm>
            <a:off x="0" y="0"/>
            <a:ext cx="54864" cy="5143500"/>
          </a:xfrm>
          <a:prstGeom prst="rect">
            <a:avLst/>
          </a:prstGeom>
          <a:solidFill>
            <a:srgbClr val="E8834A"/>
          </a:solidFill>
          <a:ln w="12700">
            <a:solidFill>
              <a:srgbClr val="E8834A"/>
            </a:solidFill>
            <a:prstDash val="solid"/>
          </a:ln>
        </p:spPr>
      </p:sp>
      <p:sp>
        <p:nvSpPr>
          <p:cNvPr id="3" name="Text 1"/>
          <p:cNvSpPr/>
          <p:nvPr/>
        </p:nvSpPr>
        <p:spPr>
          <a:xfrm>
            <a:off x="365760" y="1005840"/>
            <a:ext cx="8229600" cy="274320"/>
          </a:xfrm>
          <a:prstGeom prst="rect">
            <a:avLst/>
          </a:prstGeom>
          <a:noFill/>
          <a:ln/>
        </p:spPr>
        <p:txBody>
          <a:bodyPr wrap="square" lIns="0" tIns="0" rIns="0" bIns="0" rtlCol="0" anchor="ctr"/>
          <a:lstStyle/>
          <a:p>
            <a:pPr indent="0" marL="0">
              <a:buNone/>
            </a:pPr>
            <a:r>
              <a:rPr lang="en-US" sz="1000" b="1" spc="300" kern="0" dirty="0">
                <a:solidFill>
                  <a:srgbClr val="E8834A"/>
                </a:solidFill>
                <a:latin typeface="Calibri" pitchFamily="34" charset="0"/>
                <a:ea typeface="Calibri" pitchFamily="34" charset="-122"/>
                <a:cs typeface="Calibri" pitchFamily="34" charset="-120"/>
              </a:rPr>
              <a:t>MIGRATION DATA CHALLENGE 2026</a:t>
            </a:r>
            <a:endParaRPr lang="en-US" sz="1000" dirty="0"/>
          </a:p>
        </p:txBody>
      </p:sp>
      <p:sp>
        <p:nvSpPr>
          <p:cNvPr id="4" name="Text 2"/>
          <p:cNvSpPr/>
          <p:nvPr/>
        </p:nvSpPr>
        <p:spPr>
          <a:xfrm>
            <a:off x="365760" y="1417320"/>
            <a:ext cx="8229600" cy="1280160"/>
          </a:xfrm>
          <a:prstGeom prst="rect">
            <a:avLst/>
          </a:prstGeom>
          <a:noFill/>
          <a:ln/>
        </p:spPr>
        <p:txBody>
          <a:bodyPr wrap="square" lIns="0" tIns="0" rIns="0" bIns="0" rtlCol="0" anchor="ctr"/>
          <a:lstStyle/>
          <a:p>
            <a:pPr indent="0" marL="0">
              <a:buNone/>
            </a:pPr>
            <a:r>
              <a:rPr lang="en-US" sz="5200" b="1" dirty="0">
                <a:solidFill>
                  <a:srgbClr val="FFFFFF"/>
                </a:solidFill>
                <a:latin typeface="Georgia" pitchFamily="34" charset="0"/>
                <a:ea typeface="Georgia" pitchFamily="34" charset="-122"/>
                <a:cs typeface="Georgia" pitchFamily="34" charset="-120"/>
              </a:rPr>
              <a:t>The Invisible Tax</a:t>
            </a:r>
            <a:endParaRPr lang="en-US" sz="5200" dirty="0"/>
          </a:p>
        </p:txBody>
      </p:sp>
      <p:sp>
        <p:nvSpPr>
          <p:cNvPr id="5" name="Text 3"/>
          <p:cNvSpPr/>
          <p:nvPr/>
        </p:nvSpPr>
        <p:spPr>
          <a:xfrm>
            <a:off x="365760" y="2788920"/>
            <a:ext cx="6400800" cy="822960"/>
          </a:xfrm>
          <a:prstGeom prst="rect">
            <a:avLst/>
          </a:prstGeom>
          <a:noFill/>
          <a:ln/>
        </p:spPr>
        <p:txBody>
          <a:bodyPr wrap="square" lIns="0" tIns="0" rIns="0" bIns="0" rtlCol="0" anchor="ctr"/>
          <a:lstStyle/>
          <a:p>
            <a:pPr indent="0" marL="0">
              <a:lnSpc>
                <a:spcPct val="140000"/>
              </a:lnSpc>
              <a:buNone/>
            </a:pPr>
            <a:r>
              <a:rPr lang="en-US" sz="1700" dirty="0">
                <a:solidFill>
                  <a:srgbClr val="7A7870"/>
                </a:solidFill>
                <a:latin typeface="Calibri" pitchFamily="34" charset="0"/>
                <a:ea typeface="Calibri" pitchFamily="34" charset="-122"/>
                <a:cs typeface="Calibri" pitchFamily="34" charset="-120"/>
              </a:rPr>
              <a:t>Quantifying the Immigrant Housing Penalty</a:t>
            </a:r>
            <a:endParaRPr lang="en-US" sz="1700" dirty="0"/>
          </a:p>
          <a:p>
            <a:pPr indent="0" marL="0">
              <a:lnSpc>
                <a:spcPct val="140000"/>
              </a:lnSpc>
              <a:buNone/>
            </a:pPr>
            <a:r>
              <a:rPr lang="en-US" sz="1700" dirty="0">
                <a:solidFill>
                  <a:srgbClr val="7A7870"/>
                </a:solidFill>
                <a:latin typeface="Calibri" pitchFamily="34" charset="0"/>
                <a:ea typeface="Calibri" pitchFamily="34" charset="-122"/>
                <a:cs typeface="Calibri" pitchFamily="34" charset="-120"/>
              </a:rPr>
              <a:t>Across Four Canadian Cities</a:t>
            </a:r>
            <a:endParaRPr lang="en-US" sz="1700" dirty="0"/>
          </a:p>
        </p:txBody>
      </p:sp>
      <p:sp>
        <p:nvSpPr>
          <p:cNvPr id="6" name="Shape 4"/>
          <p:cNvSpPr/>
          <p:nvPr/>
        </p:nvSpPr>
        <p:spPr>
          <a:xfrm>
            <a:off x="6858000" y="3474720"/>
            <a:ext cx="2011680" cy="1188720"/>
          </a:xfrm>
          <a:prstGeom prst="rect">
            <a:avLst/>
          </a:prstGeom>
          <a:solidFill>
            <a:srgbClr val="1C1E27"/>
          </a:solidFill>
          <a:ln w="12700">
            <a:solidFill>
              <a:srgbClr val="E8834A"/>
            </a:solidFill>
            <a:prstDash val="solid"/>
          </a:ln>
        </p:spPr>
      </p:sp>
      <p:sp>
        <p:nvSpPr>
          <p:cNvPr id="7" name="Text 5"/>
          <p:cNvSpPr/>
          <p:nvPr/>
        </p:nvSpPr>
        <p:spPr>
          <a:xfrm>
            <a:off x="6858000" y="3520440"/>
            <a:ext cx="2011680" cy="594360"/>
          </a:xfrm>
          <a:prstGeom prst="rect">
            <a:avLst/>
          </a:prstGeom>
          <a:noFill/>
          <a:ln/>
        </p:spPr>
        <p:txBody>
          <a:bodyPr wrap="square" lIns="0" tIns="0" rIns="0" bIns="0" rtlCol="0" anchor="ctr"/>
          <a:lstStyle/>
          <a:p>
            <a:pPr algn="ctr" indent="0" marL="0">
              <a:buNone/>
            </a:pPr>
            <a:r>
              <a:rPr lang="en-US" sz="3200" b="1" dirty="0">
                <a:solidFill>
                  <a:srgbClr val="E8834A"/>
                </a:solidFill>
                <a:latin typeface="Georgia" pitchFamily="34" charset="0"/>
                <a:ea typeface="Georgia" pitchFamily="34" charset="-122"/>
                <a:cs typeface="Georgia" pitchFamily="34" charset="-120"/>
              </a:rPr>
              <a:t>2.92pp</a:t>
            </a:r>
            <a:endParaRPr lang="en-US" sz="3200" dirty="0"/>
          </a:p>
        </p:txBody>
      </p:sp>
      <p:sp>
        <p:nvSpPr>
          <p:cNvPr id="8" name="Text 6"/>
          <p:cNvSpPr/>
          <p:nvPr/>
        </p:nvSpPr>
        <p:spPr>
          <a:xfrm>
            <a:off x="6858000" y="4114800"/>
            <a:ext cx="2011680" cy="274320"/>
          </a:xfrm>
          <a:prstGeom prst="rect">
            <a:avLst/>
          </a:prstGeom>
          <a:noFill/>
          <a:ln/>
        </p:spPr>
        <p:txBody>
          <a:bodyPr wrap="square" lIns="0" tIns="0" rIns="0" bIns="0" rtlCol="0" anchor="ctr"/>
          <a:lstStyle/>
          <a:p>
            <a:pPr algn="ctr" indent="0" marL="0">
              <a:buNone/>
            </a:pPr>
            <a:r>
              <a:rPr lang="en-US" sz="1000" dirty="0">
                <a:solidFill>
                  <a:srgbClr val="7A7870"/>
                </a:solidFill>
                <a:latin typeface="Calibri" pitchFamily="34" charset="0"/>
                <a:ea typeface="Calibri" pitchFamily="34" charset="-122"/>
                <a:cs typeface="Calibri" pitchFamily="34" charset="-120"/>
              </a:rPr>
              <a:t>The Invisible Tax</a:t>
            </a:r>
            <a:endParaRPr lang="en-US" sz="1000" dirty="0"/>
          </a:p>
        </p:txBody>
      </p:sp>
      <p:sp>
        <p:nvSpPr>
          <p:cNvPr id="9" name="Text 7"/>
          <p:cNvSpPr/>
          <p:nvPr/>
        </p:nvSpPr>
        <p:spPr>
          <a:xfrm>
            <a:off x="365760" y="4754880"/>
            <a:ext cx="8229600" cy="228600"/>
          </a:xfrm>
          <a:prstGeom prst="rect">
            <a:avLst/>
          </a:prstGeom>
          <a:noFill/>
          <a:ln/>
        </p:spPr>
        <p:txBody>
          <a:bodyPr wrap="square" lIns="0" tIns="0" rIns="0" bIns="0" rtlCol="0" anchor="ctr"/>
          <a:lstStyle/>
          <a:p>
            <a:pPr indent="0" marL="0">
              <a:buNone/>
            </a:pPr>
            <a:r>
              <a:rPr lang="en-US" sz="900" dirty="0">
                <a:solidFill>
                  <a:srgbClr val="7A7870"/>
                </a:solidFill>
                <a:latin typeface="Calibri" pitchFamily="34" charset="0"/>
                <a:ea typeface="Calibri" pitchFamily="34" charset="-122"/>
                <a:cs typeface="Calibri" pitchFamily="34" charset="-120"/>
              </a:rPr>
              <a:t>Data: CMHC Census Subdivision Survey  |  CMHC Rental Market Report 2025</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6F2"/>
        </a:solidFill>
      </p:bgPr>
    </p:bg>
    <p:spTree>
      <p:nvGrpSpPr>
        <p:cNvPr id="1" name=""/>
        <p:cNvGrpSpPr/>
        <p:nvPr/>
      </p:nvGrpSpPr>
      <p:grpSpPr>
        <a:xfrm>
          <a:off x="0" y="0"/>
          <a:ext cx="0" cy="0"/>
          <a:chOff x="0" y="0"/>
          <a:chExt cx="0" cy="0"/>
        </a:xfrm>
      </p:grpSpPr>
      <p:sp>
        <p:nvSpPr>
          <p:cNvPr id="2" name="Text 0"/>
          <p:cNvSpPr/>
          <p:nvPr/>
        </p:nvSpPr>
        <p:spPr>
          <a:xfrm>
            <a:off x="457200" y="320040"/>
            <a:ext cx="8229600" cy="548640"/>
          </a:xfrm>
          <a:prstGeom prst="rect">
            <a:avLst/>
          </a:prstGeom>
          <a:noFill/>
          <a:ln/>
        </p:spPr>
        <p:txBody>
          <a:bodyPr wrap="square" lIns="0" tIns="0" rIns="0" bIns="0" rtlCol="0" anchor="ctr"/>
          <a:lstStyle/>
          <a:p>
            <a:pPr indent="0" marL="0">
              <a:buNone/>
            </a:pPr>
            <a:r>
              <a:rPr lang="en-US" sz="3000" b="1" dirty="0">
                <a:solidFill>
                  <a:srgbClr val="1A1A1A"/>
                </a:solidFill>
                <a:latin typeface="Georgia" pitchFamily="34" charset="0"/>
                <a:ea typeface="Georgia" pitchFamily="34" charset="-122"/>
                <a:cs typeface="Georgia" pitchFamily="34" charset="-120"/>
              </a:rPr>
              <a:t>What We Measured</a:t>
            </a:r>
            <a:endParaRPr lang="en-US" sz="3000" dirty="0"/>
          </a:p>
        </p:txBody>
      </p:sp>
      <p:sp>
        <p:nvSpPr>
          <p:cNvPr id="3" name="Shape 1"/>
          <p:cNvSpPr/>
          <p:nvPr/>
        </p:nvSpPr>
        <p:spPr>
          <a:xfrm>
            <a:off x="457200" y="1005840"/>
            <a:ext cx="2651760" cy="3291840"/>
          </a:xfrm>
          <a:prstGeom prst="rect">
            <a:avLst/>
          </a:prstGeom>
          <a:solidFill>
            <a:srgbClr val="FFFFFF"/>
          </a:solidFill>
          <a:ln w="6350">
            <a:solidFill>
              <a:srgbClr val="E8E6E0"/>
            </a:solidFill>
            <a:prstDash val="solid"/>
          </a:ln>
          <a:effectLst>
            <a:outerShdw sx="100000" sy="100000" kx="0" ky="0" algn="bl" rotWithShape="0" blurRad="101600" dist="25400" dir="8100000">
              <a:srgbClr val="000000">
                <a:alpha val="8000"/>
              </a:srgbClr>
            </a:outerShdw>
          </a:effectLst>
        </p:spPr>
      </p:sp>
      <p:sp>
        <p:nvSpPr>
          <p:cNvPr id="4" name="Shape 2"/>
          <p:cNvSpPr/>
          <p:nvPr/>
        </p:nvSpPr>
        <p:spPr>
          <a:xfrm>
            <a:off x="457200" y="1005840"/>
            <a:ext cx="2651760" cy="64008"/>
          </a:xfrm>
          <a:prstGeom prst="rect">
            <a:avLst/>
          </a:prstGeom>
          <a:solidFill>
            <a:srgbClr val="E8834A"/>
          </a:solidFill>
          <a:ln w="12700">
            <a:solidFill>
              <a:srgbClr val="E8834A"/>
            </a:solidFill>
            <a:prstDash val="solid"/>
          </a:ln>
        </p:spPr>
      </p:sp>
      <p:sp>
        <p:nvSpPr>
          <p:cNvPr id="5" name="Text 3"/>
          <p:cNvSpPr/>
          <p:nvPr/>
        </p:nvSpPr>
        <p:spPr>
          <a:xfrm>
            <a:off x="594360" y="1143000"/>
            <a:ext cx="2377440" cy="457200"/>
          </a:xfrm>
          <a:prstGeom prst="rect">
            <a:avLst/>
          </a:prstGeom>
          <a:noFill/>
          <a:ln/>
        </p:spPr>
        <p:txBody>
          <a:bodyPr wrap="square" lIns="0" tIns="0" rIns="0" bIns="0" rtlCol="0" anchor="ctr"/>
          <a:lstStyle/>
          <a:p>
            <a:pPr indent="0" marL="0">
              <a:buNone/>
            </a:pPr>
            <a:r>
              <a:rPr lang="en-US" sz="1600" b="1" dirty="0">
                <a:solidFill>
                  <a:srgbClr val="1A1A1A"/>
                </a:solidFill>
                <a:latin typeface="Georgia" pitchFamily="34" charset="0"/>
                <a:ea typeface="Georgia" pitchFamily="34" charset="-122"/>
                <a:cs typeface="Georgia" pitchFamily="34" charset="-120"/>
              </a:rPr>
              <a:t>STIR</a:t>
            </a:r>
            <a:endParaRPr lang="en-US" sz="1600" dirty="0"/>
          </a:p>
        </p:txBody>
      </p:sp>
      <p:sp>
        <p:nvSpPr>
          <p:cNvPr id="6" name="Text 4"/>
          <p:cNvSpPr/>
          <p:nvPr/>
        </p:nvSpPr>
        <p:spPr>
          <a:xfrm>
            <a:off x="594360" y="1691640"/>
            <a:ext cx="2377440" cy="2286000"/>
          </a:xfrm>
          <a:prstGeom prst="rect">
            <a:avLst/>
          </a:prstGeom>
          <a:noFill/>
          <a:ln/>
        </p:spPr>
        <p:txBody>
          <a:bodyPr wrap="square" lIns="0" tIns="0" rIns="0" bIns="0" rtlCol="0" anchor="ctr"/>
          <a:lstStyle/>
          <a:p>
            <a:pPr indent="0" marL="0">
              <a:lnSpc>
                <a:spcPct val="150000"/>
              </a:lnSpc>
              <a:buNone/>
            </a:pPr>
            <a:r>
              <a:rPr lang="en-US" sz="1300" dirty="0">
                <a:solidFill>
                  <a:srgbClr val="444444"/>
                </a:solidFill>
                <a:latin typeface="Calibri" pitchFamily="34" charset="0"/>
                <a:ea typeface="Calibri" pitchFamily="34" charset="-122"/>
                <a:cs typeface="Calibri" pitchFamily="34" charset="-120"/>
              </a:rPr>
              <a:t>Shelter-to-Income Ratio. The share of household income spent on housing. Above 30% means a household is in housing stress.</a:t>
            </a:r>
            <a:endParaRPr lang="en-US" sz="1300" dirty="0"/>
          </a:p>
        </p:txBody>
      </p:sp>
      <p:sp>
        <p:nvSpPr>
          <p:cNvPr id="7" name="Shape 5"/>
          <p:cNvSpPr/>
          <p:nvPr/>
        </p:nvSpPr>
        <p:spPr>
          <a:xfrm>
            <a:off x="3474720" y="1005840"/>
            <a:ext cx="2651760" cy="3291840"/>
          </a:xfrm>
          <a:prstGeom prst="rect">
            <a:avLst/>
          </a:prstGeom>
          <a:solidFill>
            <a:srgbClr val="FFFFFF"/>
          </a:solidFill>
          <a:ln w="6350">
            <a:solidFill>
              <a:srgbClr val="E8E6E0"/>
            </a:solidFill>
            <a:prstDash val="solid"/>
          </a:ln>
          <a:effectLst>
            <a:outerShdw sx="100000" sy="100000" kx="0" ky="0" algn="bl" rotWithShape="0" blurRad="101600" dist="25400" dir="8100000">
              <a:srgbClr val="000000">
                <a:alpha val="8000"/>
              </a:srgbClr>
            </a:outerShdw>
          </a:effectLst>
        </p:spPr>
      </p:sp>
      <p:sp>
        <p:nvSpPr>
          <p:cNvPr id="8" name="Shape 6"/>
          <p:cNvSpPr/>
          <p:nvPr/>
        </p:nvSpPr>
        <p:spPr>
          <a:xfrm>
            <a:off x="3474720" y="1005840"/>
            <a:ext cx="2651760" cy="64008"/>
          </a:xfrm>
          <a:prstGeom prst="rect">
            <a:avLst/>
          </a:prstGeom>
          <a:solidFill>
            <a:srgbClr val="5B9BD5"/>
          </a:solidFill>
          <a:ln w="12700">
            <a:solidFill>
              <a:srgbClr val="5B9BD5"/>
            </a:solidFill>
            <a:prstDash val="solid"/>
          </a:ln>
        </p:spPr>
      </p:sp>
      <p:sp>
        <p:nvSpPr>
          <p:cNvPr id="9" name="Text 7"/>
          <p:cNvSpPr/>
          <p:nvPr/>
        </p:nvSpPr>
        <p:spPr>
          <a:xfrm>
            <a:off x="3611880" y="1143000"/>
            <a:ext cx="2377440" cy="457200"/>
          </a:xfrm>
          <a:prstGeom prst="rect">
            <a:avLst/>
          </a:prstGeom>
          <a:noFill/>
          <a:ln/>
        </p:spPr>
        <p:txBody>
          <a:bodyPr wrap="square" lIns="0" tIns="0" rIns="0" bIns="0" rtlCol="0" anchor="ctr"/>
          <a:lstStyle/>
          <a:p>
            <a:pPr indent="0" marL="0">
              <a:buNone/>
            </a:pPr>
            <a:r>
              <a:rPr lang="en-US" sz="1600" b="1" dirty="0">
                <a:solidFill>
                  <a:srgbClr val="1A1A1A"/>
                </a:solidFill>
                <a:latin typeface="Georgia" pitchFamily="34" charset="0"/>
                <a:ea typeface="Georgia" pitchFamily="34" charset="-122"/>
                <a:cs typeface="Georgia" pitchFamily="34" charset="-120"/>
              </a:rPr>
              <a:t>CSD Level</a:t>
            </a:r>
            <a:endParaRPr lang="en-US" sz="1600" dirty="0"/>
          </a:p>
        </p:txBody>
      </p:sp>
      <p:sp>
        <p:nvSpPr>
          <p:cNvPr id="10" name="Text 8"/>
          <p:cNvSpPr/>
          <p:nvPr/>
        </p:nvSpPr>
        <p:spPr>
          <a:xfrm>
            <a:off x="3611880" y="1691640"/>
            <a:ext cx="2377440" cy="2286000"/>
          </a:xfrm>
          <a:prstGeom prst="rect">
            <a:avLst/>
          </a:prstGeom>
          <a:noFill/>
          <a:ln/>
        </p:spPr>
        <p:txBody>
          <a:bodyPr wrap="square" lIns="0" tIns="0" rIns="0" bIns="0" rtlCol="0" anchor="ctr"/>
          <a:lstStyle/>
          <a:p>
            <a:pPr indent="0" marL="0">
              <a:lnSpc>
                <a:spcPct val="150000"/>
              </a:lnSpc>
              <a:buNone/>
            </a:pPr>
            <a:r>
              <a:rPr lang="en-US" sz="1300" dirty="0">
                <a:solidFill>
                  <a:srgbClr val="444444"/>
                </a:solidFill>
                <a:latin typeface="Calibri" pitchFamily="34" charset="0"/>
                <a:ea typeface="Calibri" pitchFamily="34" charset="-122"/>
                <a:cs typeface="Calibri" pitchFamily="34" charset="-120"/>
              </a:rPr>
              <a:t>Census Subdivision — the neighbourhood scale. We analyzed 194 CSDs across Montreal, Toronto, Edmonton, and Vancouver.</a:t>
            </a:r>
            <a:endParaRPr lang="en-US" sz="1300" dirty="0"/>
          </a:p>
        </p:txBody>
      </p:sp>
      <p:sp>
        <p:nvSpPr>
          <p:cNvPr id="11" name="Shape 9"/>
          <p:cNvSpPr/>
          <p:nvPr/>
        </p:nvSpPr>
        <p:spPr>
          <a:xfrm>
            <a:off x="6492240" y="1005840"/>
            <a:ext cx="2651760" cy="3291840"/>
          </a:xfrm>
          <a:prstGeom prst="rect">
            <a:avLst/>
          </a:prstGeom>
          <a:solidFill>
            <a:srgbClr val="FFFFFF"/>
          </a:solidFill>
          <a:ln w="6350">
            <a:solidFill>
              <a:srgbClr val="E8E6E0"/>
            </a:solidFill>
            <a:prstDash val="solid"/>
          </a:ln>
          <a:effectLst>
            <a:outerShdw sx="100000" sy="100000" kx="0" ky="0" algn="bl" rotWithShape="0" blurRad="101600" dist="25400" dir="8100000">
              <a:srgbClr val="000000">
                <a:alpha val="8000"/>
              </a:srgbClr>
            </a:outerShdw>
          </a:effectLst>
        </p:spPr>
      </p:sp>
      <p:sp>
        <p:nvSpPr>
          <p:cNvPr id="12" name="Shape 10"/>
          <p:cNvSpPr/>
          <p:nvPr/>
        </p:nvSpPr>
        <p:spPr>
          <a:xfrm>
            <a:off x="6492240" y="1005840"/>
            <a:ext cx="2651760" cy="64008"/>
          </a:xfrm>
          <a:prstGeom prst="rect">
            <a:avLst/>
          </a:prstGeom>
          <a:solidFill>
            <a:srgbClr val="8E75C9"/>
          </a:solidFill>
          <a:ln w="12700">
            <a:solidFill>
              <a:srgbClr val="8E75C9"/>
            </a:solidFill>
            <a:prstDash val="solid"/>
          </a:ln>
        </p:spPr>
      </p:sp>
      <p:sp>
        <p:nvSpPr>
          <p:cNvPr id="13" name="Text 11"/>
          <p:cNvSpPr/>
          <p:nvPr/>
        </p:nvSpPr>
        <p:spPr>
          <a:xfrm>
            <a:off x="6629400" y="1143000"/>
            <a:ext cx="2377440" cy="457200"/>
          </a:xfrm>
          <a:prstGeom prst="rect">
            <a:avLst/>
          </a:prstGeom>
          <a:noFill/>
          <a:ln/>
        </p:spPr>
        <p:txBody>
          <a:bodyPr wrap="square" lIns="0" tIns="0" rIns="0" bIns="0" rtlCol="0" anchor="ctr"/>
          <a:lstStyle/>
          <a:p>
            <a:pPr indent="0" marL="0">
              <a:buNone/>
            </a:pPr>
            <a:r>
              <a:rPr lang="en-US" sz="1600" b="1" dirty="0">
                <a:solidFill>
                  <a:srgbClr val="1A1A1A"/>
                </a:solidFill>
                <a:latin typeface="Georgia" pitchFamily="34" charset="0"/>
                <a:ea typeface="Georgia" pitchFamily="34" charset="-122"/>
                <a:cs typeface="Georgia" pitchFamily="34" charset="-120"/>
              </a:rPr>
              <a:t>Immigrant Status</a:t>
            </a:r>
            <a:endParaRPr lang="en-US" sz="1600" dirty="0"/>
          </a:p>
        </p:txBody>
      </p:sp>
      <p:sp>
        <p:nvSpPr>
          <p:cNvPr id="14" name="Text 12"/>
          <p:cNvSpPr/>
          <p:nvPr/>
        </p:nvSpPr>
        <p:spPr>
          <a:xfrm>
            <a:off x="6629400" y="1691640"/>
            <a:ext cx="2377440" cy="2286000"/>
          </a:xfrm>
          <a:prstGeom prst="rect">
            <a:avLst/>
          </a:prstGeom>
          <a:noFill/>
          <a:ln/>
        </p:spPr>
        <p:txBody>
          <a:bodyPr wrap="square" lIns="0" tIns="0" rIns="0" bIns="0" rtlCol="0" anchor="ctr"/>
          <a:lstStyle/>
          <a:p>
            <a:pPr indent="0" marL="0">
              <a:lnSpc>
                <a:spcPct val="150000"/>
              </a:lnSpc>
              <a:buNone/>
            </a:pPr>
            <a:r>
              <a:rPr lang="en-US" sz="1300" dirty="0">
                <a:solidFill>
                  <a:srgbClr val="444444"/>
                </a:solidFill>
                <a:latin typeface="Calibri" pitchFamily="34" charset="0"/>
                <a:ea typeface="Calibri" pitchFamily="34" charset="-122"/>
                <a:cs typeface="Calibri" pitchFamily="34" charset="-120"/>
              </a:rPr>
              <a:t>Every neighbourhood appears three times — once for all households, once for immigrants, once for non-immigrants.</a:t>
            </a:r>
            <a:endParaRPr lang="en-US" sz="1300" dirty="0"/>
          </a:p>
        </p:txBody>
      </p:sp>
      <p:sp>
        <p:nvSpPr>
          <p:cNvPr id="15" name="Shape 13"/>
          <p:cNvSpPr/>
          <p:nvPr/>
        </p:nvSpPr>
        <p:spPr>
          <a:xfrm>
            <a:off x="457200" y="4480560"/>
            <a:ext cx="8229600" cy="457200"/>
          </a:xfrm>
          <a:prstGeom prst="rect">
            <a:avLst/>
          </a:prstGeom>
          <a:solidFill>
            <a:srgbClr val="FFF3EE"/>
          </a:solidFill>
          <a:ln w="6350">
            <a:solidFill>
              <a:srgbClr val="E8834A"/>
            </a:solidFill>
            <a:prstDash val="solid"/>
          </a:ln>
        </p:spPr>
      </p:sp>
      <p:sp>
        <p:nvSpPr>
          <p:cNvPr id="16" name="Text 14"/>
          <p:cNvSpPr/>
          <p:nvPr/>
        </p:nvSpPr>
        <p:spPr>
          <a:xfrm>
            <a:off x="594360" y="4526280"/>
            <a:ext cx="7955280" cy="320040"/>
          </a:xfrm>
          <a:prstGeom prst="rect">
            <a:avLst/>
          </a:prstGeom>
          <a:noFill/>
          <a:ln/>
        </p:spPr>
        <p:txBody>
          <a:bodyPr wrap="square" lIns="0" tIns="0" rIns="0" bIns="0" rtlCol="0" anchor="ctr"/>
          <a:lstStyle/>
          <a:p>
            <a:pPr indent="0" marL="0">
              <a:buNone/>
            </a:pPr>
            <a:r>
              <a:rPr lang="en-US" sz="1100" b="1" dirty="0">
                <a:solidFill>
                  <a:srgbClr val="E8834A"/>
                </a:solidFill>
                <a:latin typeface="Calibri" pitchFamily="34" charset="0"/>
                <a:ea typeface="Calibri" pitchFamily="34" charset="-122"/>
                <a:cs typeface="Calibri" pitchFamily="34" charset="-120"/>
              </a:rPr>
              <a:t>The 30% threshold  —  CMHC defines any household spending more than 30% of income on housing as being in housing stress.</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F1117"/>
        </a:solidFill>
      </p:bgPr>
    </p:bg>
    <p:spTree>
      <p:nvGrpSpPr>
        <p:cNvPr id="1" name=""/>
        <p:cNvGrpSpPr/>
        <p:nvPr/>
      </p:nvGrpSpPr>
      <p:grpSpPr>
        <a:xfrm>
          <a:off x="0" y="0"/>
          <a:ext cx="0" cy="0"/>
          <a:chOff x="0" y="0"/>
          <a:chExt cx="0" cy="0"/>
        </a:xfrm>
      </p:grpSpPr>
      <p:sp>
        <p:nvSpPr>
          <p:cNvPr id="2" name="Text 0"/>
          <p:cNvSpPr/>
          <p:nvPr/>
        </p:nvSpPr>
        <p:spPr>
          <a:xfrm>
            <a:off x="457200" y="228600"/>
            <a:ext cx="8229600" cy="502920"/>
          </a:xfrm>
          <a:prstGeom prst="rect">
            <a:avLst/>
          </a:prstGeom>
          <a:noFill/>
          <a:ln/>
        </p:spPr>
        <p:txBody>
          <a:bodyPr wrap="square" lIns="0" tIns="0" rIns="0" bIns="0" rtlCol="0" anchor="ctr"/>
          <a:lstStyle/>
          <a:p>
            <a:pPr indent="0" marL="0">
              <a:buNone/>
            </a:pPr>
            <a:r>
              <a:rPr lang="en-US" sz="3000" b="1" dirty="0">
                <a:solidFill>
                  <a:srgbClr val="FFFFFF"/>
                </a:solidFill>
                <a:latin typeface="Georgia" pitchFamily="34" charset="0"/>
                <a:ea typeface="Georgia" pitchFamily="34" charset="-122"/>
                <a:cs typeface="Georgia" pitchFamily="34" charset="-120"/>
              </a:rPr>
              <a:t>The Gap Across Four Cities</a:t>
            </a:r>
            <a:endParaRPr lang="en-US" sz="3000" dirty="0"/>
          </a:p>
        </p:txBody>
      </p:sp>
      <p:sp>
        <p:nvSpPr>
          <p:cNvPr id="3" name="Text 1"/>
          <p:cNvSpPr/>
          <p:nvPr/>
        </p:nvSpPr>
        <p:spPr>
          <a:xfrm>
            <a:off x="457200" y="749808"/>
            <a:ext cx="8229600" cy="274320"/>
          </a:xfrm>
          <a:prstGeom prst="rect">
            <a:avLst/>
          </a:prstGeom>
          <a:noFill/>
          <a:ln/>
        </p:spPr>
        <p:txBody>
          <a:bodyPr wrap="square" lIns="0" tIns="0" rIns="0" bIns="0" rtlCol="0" anchor="ctr"/>
          <a:lstStyle/>
          <a:p>
            <a:pPr indent="0" marL="0">
              <a:buNone/>
            </a:pPr>
            <a:r>
              <a:rPr lang="en-US" sz="1300" dirty="0">
                <a:solidFill>
                  <a:srgbClr val="7A7870"/>
                </a:solidFill>
                <a:latin typeface="Calibri" pitchFamily="34" charset="0"/>
                <a:ea typeface="Calibri" pitchFamily="34" charset="-122"/>
                <a:cs typeface="Calibri" pitchFamily="34" charset="-120"/>
              </a:rPr>
              <a:t>Immigrant vs non-immigrant STIR by tenure at the city level</a:t>
            </a:r>
            <a:endParaRPr lang="en-US" sz="1300" dirty="0"/>
          </a:p>
        </p:txBody>
      </p:sp>
      <p:graphicFrame>
        <p:nvGraphicFramePr>
          <p:cNvPr id="4" name="Chart 0" descr=""/>
          <p:cNvGraphicFramePr/>
          <p:nvPr/>
        </p:nvGraphicFramePr>
        <p:xfrm>
          <a:off x="365760" y="1097280"/>
          <a:ext cx="8412480" cy="3474720"/>
        </p:xfrm>
        <a:graphic xmlns:a="http://schemas.openxmlformats.org/drawingml/2006/main">
          <a:graphicData uri="http://schemas.openxmlformats.org/drawingml/2006/chart">
            <c:chart xmlns:c="http://schemas.openxmlformats.org/drawingml/2006/chart" r:id="rId1"/>
          </a:graphicData>
        </a:graphic>
      </p:graphicFrame>
      <p:sp>
        <p:nvSpPr>
          <p:cNvPr id="5" name="Text 2"/>
          <p:cNvSpPr/>
          <p:nvPr/>
        </p:nvSpPr>
        <p:spPr>
          <a:xfrm>
            <a:off x="365760" y="4754880"/>
            <a:ext cx="8229600" cy="228600"/>
          </a:xfrm>
          <a:prstGeom prst="rect">
            <a:avLst/>
          </a:prstGeom>
          <a:noFill/>
          <a:ln/>
        </p:spPr>
        <p:txBody>
          <a:bodyPr wrap="square" lIns="0" tIns="0" rIns="0" bIns="0" rtlCol="0" anchor="ctr"/>
          <a:lstStyle/>
          <a:p>
            <a:pPr indent="0" marL="0">
              <a:buNone/>
            </a:pPr>
            <a:r>
              <a:rPr lang="en-US" sz="900" dirty="0">
                <a:solidFill>
                  <a:srgbClr val="E05555"/>
                </a:solidFill>
                <a:latin typeface="Calibri" pitchFamily="34" charset="0"/>
                <a:ea typeface="Calibri" pitchFamily="34" charset="-122"/>
                <a:cs typeface="Calibri" pitchFamily="34" charset="-120"/>
              </a:rPr>
              <a:t>30% affordability threshold — individual neighbourhoods exceed this (see slide 5)</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6F2"/>
        </a:solidFill>
      </p:bgPr>
    </p:bg>
    <p:spTree>
      <p:nvGrpSpPr>
        <p:cNvPr id="1" name=""/>
        <p:cNvGrpSpPr/>
        <p:nvPr/>
      </p:nvGrpSpPr>
      <p:grpSpPr>
        <a:xfrm>
          <a:off x="0" y="0"/>
          <a:ext cx="0" cy="0"/>
          <a:chOff x="0" y="0"/>
          <a:chExt cx="0" cy="0"/>
        </a:xfrm>
      </p:grpSpPr>
      <p:sp>
        <p:nvSpPr>
          <p:cNvPr id="2" name="Text 0"/>
          <p:cNvSpPr/>
          <p:nvPr/>
        </p:nvSpPr>
        <p:spPr>
          <a:xfrm>
            <a:off x="457200" y="274320"/>
            <a:ext cx="8229600" cy="548640"/>
          </a:xfrm>
          <a:prstGeom prst="rect">
            <a:avLst/>
          </a:prstGeom>
          <a:noFill/>
          <a:ln/>
        </p:spPr>
        <p:txBody>
          <a:bodyPr wrap="square" lIns="0" tIns="0" rIns="0" bIns="0" rtlCol="0" anchor="ctr"/>
          <a:lstStyle/>
          <a:p>
            <a:pPr indent="0" marL="0">
              <a:buNone/>
            </a:pPr>
            <a:r>
              <a:rPr lang="en-US" sz="3000" b="1" dirty="0">
                <a:solidFill>
                  <a:srgbClr val="1A1A1A"/>
                </a:solidFill>
                <a:latin typeface="Georgia" pitchFamily="34" charset="0"/>
                <a:ea typeface="Georgia" pitchFamily="34" charset="-122"/>
                <a:cs typeface="Georgia" pitchFamily="34" charset="-120"/>
              </a:rPr>
              <a:t>The Invisible Tax</a:t>
            </a:r>
            <a:endParaRPr lang="en-US" sz="3000" dirty="0"/>
          </a:p>
        </p:txBody>
      </p:sp>
      <p:sp>
        <p:nvSpPr>
          <p:cNvPr id="3" name="Text 1"/>
          <p:cNvSpPr/>
          <p:nvPr/>
        </p:nvSpPr>
        <p:spPr>
          <a:xfrm>
            <a:off x="457200" y="822960"/>
            <a:ext cx="8229600" cy="274320"/>
          </a:xfrm>
          <a:prstGeom prst="rect">
            <a:avLst/>
          </a:prstGeom>
          <a:noFill/>
          <a:ln/>
        </p:spPr>
        <p:txBody>
          <a:bodyPr wrap="square" lIns="0" tIns="0" rIns="0" bIns="0" rtlCol="0" anchor="ctr"/>
          <a:lstStyle/>
          <a:p>
            <a:pPr indent="0" marL="0">
              <a:buNone/>
            </a:pPr>
            <a:r>
              <a:rPr lang="en-US" sz="1500" i="1" dirty="0">
                <a:solidFill>
                  <a:srgbClr val="E8834A"/>
                </a:solidFill>
                <a:latin typeface="Calibri" pitchFamily="34" charset="0"/>
                <a:ea typeface="Calibri" pitchFamily="34" charset="-122"/>
                <a:cs typeface="Calibri" pitchFamily="34" charset="-120"/>
              </a:rPr>
              <a:t>Income does not explain the gap</a:t>
            </a:r>
            <a:endParaRPr lang="en-US" sz="1500" dirty="0"/>
          </a:p>
        </p:txBody>
      </p:sp>
      <p:sp>
        <p:nvSpPr>
          <p:cNvPr id="4" name="Shape 2"/>
          <p:cNvSpPr/>
          <p:nvPr/>
        </p:nvSpPr>
        <p:spPr>
          <a:xfrm>
            <a:off x="457200" y="1280160"/>
            <a:ext cx="2926080" cy="3383280"/>
          </a:xfrm>
          <a:prstGeom prst="rect">
            <a:avLst/>
          </a:prstGeom>
          <a:solidFill>
            <a:srgbClr val="0F1117"/>
          </a:solidFill>
          <a:ln w="12700">
            <a:solidFill>
              <a:srgbClr val="0F1117"/>
            </a:solidFill>
            <a:prstDash val="solid"/>
          </a:ln>
        </p:spPr>
      </p:sp>
      <p:sp>
        <p:nvSpPr>
          <p:cNvPr id="5" name="Text 3"/>
          <p:cNvSpPr/>
          <p:nvPr/>
        </p:nvSpPr>
        <p:spPr>
          <a:xfrm>
            <a:off x="457200" y="1463040"/>
            <a:ext cx="2926080" cy="1097280"/>
          </a:xfrm>
          <a:prstGeom prst="rect">
            <a:avLst/>
          </a:prstGeom>
          <a:noFill/>
          <a:ln/>
        </p:spPr>
        <p:txBody>
          <a:bodyPr wrap="square" lIns="0" tIns="0" rIns="0" bIns="0" rtlCol="0" anchor="ctr"/>
          <a:lstStyle/>
          <a:p>
            <a:pPr algn="ctr" indent="0" marL="0">
              <a:buNone/>
            </a:pPr>
            <a:r>
              <a:rPr lang="en-US" sz="7200" b="1" dirty="0">
                <a:solidFill>
                  <a:srgbClr val="E8834A"/>
                </a:solidFill>
                <a:latin typeface="Georgia" pitchFamily="34" charset="0"/>
                <a:ea typeface="Georgia" pitchFamily="34" charset="-122"/>
                <a:cs typeface="Georgia" pitchFamily="34" charset="-120"/>
              </a:rPr>
              <a:t>2.92</a:t>
            </a:r>
            <a:endParaRPr lang="en-US" sz="7200" dirty="0"/>
          </a:p>
        </p:txBody>
      </p:sp>
      <p:sp>
        <p:nvSpPr>
          <p:cNvPr id="6" name="Text 4"/>
          <p:cNvSpPr/>
          <p:nvPr/>
        </p:nvSpPr>
        <p:spPr>
          <a:xfrm>
            <a:off x="457200" y="2560320"/>
            <a:ext cx="2926080" cy="320040"/>
          </a:xfrm>
          <a:prstGeom prst="rect">
            <a:avLst/>
          </a:prstGeom>
          <a:noFill/>
          <a:ln/>
        </p:spPr>
        <p:txBody>
          <a:bodyPr wrap="square" lIns="0" tIns="0" rIns="0" bIns="0" rtlCol="0" anchor="ctr"/>
          <a:lstStyle/>
          <a:p>
            <a:pPr algn="ctr" indent="0" marL="0">
              <a:buNone/>
            </a:pPr>
            <a:r>
              <a:rPr lang="en-US" sz="1200" dirty="0">
                <a:solidFill>
                  <a:srgbClr val="FFFFFF"/>
                </a:solidFill>
                <a:latin typeface="Calibri" pitchFamily="34" charset="0"/>
                <a:ea typeface="Calibri" pitchFamily="34" charset="-122"/>
                <a:cs typeface="Calibri" pitchFamily="34" charset="-120"/>
              </a:rPr>
              <a:t>percentage points</a:t>
            </a:r>
            <a:endParaRPr lang="en-US" sz="1200" dirty="0"/>
          </a:p>
        </p:txBody>
      </p:sp>
      <p:sp>
        <p:nvSpPr>
          <p:cNvPr id="7" name="Text 5"/>
          <p:cNvSpPr/>
          <p:nvPr/>
        </p:nvSpPr>
        <p:spPr>
          <a:xfrm>
            <a:off x="457200" y="2926080"/>
            <a:ext cx="2926080" cy="1097280"/>
          </a:xfrm>
          <a:prstGeom prst="rect">
            <a:avLst/>
          </a:prstGeom>
          <a:noFill/>
          <a:ln/>
        </p:spPr>
        <p:txBody>
          <a:bodyPr wrap="square" lIns="0" tIns="0" rIns="0" bIns="0" rtlCol="0" anchor="ctr"/>
          <a:lstStyle/>
          <a:p>
            <a:pPr algn="ctr" indent="0" marL="0">
              <a:lnSpc>
                <a:spcPct val="150000"/>
              </a:lnSpc>
              <a:buNone/>
            </a:pPr>
            <a:r>
              <a:rPr lang="en-US" sz="1200" dirty="0">
                <a:solidFill>
                  <a:srgbClr val="7A7870"/>
                </a:solidFill>
                <a:latin typeface="Calibri" pitchFamily="34" charset="0"/>
                <a:ea typeface="Calibri" pitchFamily="34" charset="-122"/>
                <a:cs typeface="Calibri" pitchFamily="34" charset="-120"/>
              </a:rPr>
              <a:t>added to STIR by being</a:t>
            </a:r>
            <a:endParaRPr lang="en-US" sz="1200" dirty="0"/>
          </a:p>
          <a:p>
            <a:pPr algn="ctr" indent="0" marL="0">
              <a:lnSpc>
                <a:spcPct val="150000"/>
              </a:lnSpc>
              <a:buNone/>
            </a:pPr>
            <a:r>
              <a:rPr lang="en-US" sz="1200" dirty="0">
                <a:solidFill>
                  <a:srgbClr val="7A7870"/>
                </a:solidFill>
                <a:latin typeface="Calibri" pitchFamily="34" charset="0"/>
                <a:ea typeface="Calibri" pitchFamily="34" charset="-122"/>
                <a:cs typeface="Calibri" pitchFamily="34" charset="-120"/>
              </a:rPr>
              <a:t>an immigrant — after</a:t>
            </a:r>
            <a:endParaRPr lang="en-US" sz="1200" dirty="0"/>
          </a:p>
          <a:p>
            <a:pPr algn="ctr" indent="0" marL="0">
              <a:lnSpc>
                <a:spcPct val="150000"/>
              </a:lnSpc>
              <a:buNone/>
            </a:pPr>
            <a:r>
              <a:rPr lang="en-US" sz="1200" dirty="0">
                <a:solidFill>
                  <a:srgbClr val="7A7870"/>
                </a:solidFill>
                <a:latin typeface="Calibri" pitchFamily="34" charset="0"/>
                <a:ea typeface="Calibri" pitchFamily="34" charset="-122"/>
                <a:cs typeface="Calibri" pitchFamily="34" charset="-120"/>
              </a:rPr>
              <a:t>controlling for income</a:t>
            </a:r>
            <a:endParaRPr lang="en-US" sz="1200" dirty="0"/>
          </a:p>
          <a:p>
            <a:pPr algn="ctr" indent="0" marL="0">
              <a:lnSpc>
                <a:spcPct val="150000"/>
              </a:lnSpc>
              <a:buNone/>
            </a:pPr>
            <a:r>
              <a:rPr lang="en-US" sz="1200" dirty="0">
                <a:solidFill>
                  <a:srgbClr val="7A7870"/>
                </a:solidFill>
                <a:latin typeface="Calibri" pitchFamily="34" charset="0"/>
                <a:ea typeface="Calibri" pitchFamily="34" charset="-122"/>
                <a:cs typeface="Calibri" pitchFamily="34" charset="-120"/>
              </a:rPr>
              <a:t>and city</a:t>
            </a:r>
            <a:endParaRPr lang="en-US" sz="1200" dirty="0"/>
          </a:p>
        </p:txBody>
      </p:sp>
      <p:sp>
        <p:nvSpPr>
          <p:cNvPr id="8" name="Shape 6"/>
          <p:cNvSpPr/>
          <p:nvPr/>
        </p:nvSpPr>
        <p:spPr>
          <a:xfrm>
            <a:off x="3657600" y="1280160"/>
            <a:ext cx="5212080" cy="914400"/>
          </a:xfrm>
          <a:prstGeom prst="rect">
            <a:avLst/>
          </a:prstGeom>
          <a:solidFill>
            <a:srgbClr val="FFFFFF"/>
          </a:solidFill>
          <a:ln w="6350">
            <a:solidFill>
              <a:srgbClr val="E8E6E0"/>
            </a:solidFill>
            <a:prstDash val="solid"/>
          </a:ln>
          <a:effectLst>
            <a:outerShdw sx="100000" sy="100000" kx="0" ky="0" algn="bl" rotWithShape="0" blurRad="76200" dist="25400" dir="8100000">
              <a:srgbClr val="000000">
                <a:alpha val="7000"/>
              </a:srgbClr>
            </a:outerShdw>
          </a:effectLst>
        </p:spPr>
      </p:sp>
      <p:sp>
        <p:nvSpPr>
          <p:cNvPr id="9" name="Shape 7"/>
          <p:cNvSpPr/>
          <p:nvPr/>
        </p:nvSpPr>
        <p:spPr>
          <a:xfrm>
            <a:off x="3657600" y="1280160"/>
            <a:ext cx="54864" cy="914400"/>
          </a:xfrm>
          <a:prstGeom prst="rect">
            <a:avLst/>
          </a:prstGeom>
          <a:solidFill>
            <a:srgbClr val="E8834A"/>
          </a:solidFill>
          <a:ln w="12700">
            <a:solidFill>
              <a:srgbClr val="E8834A"/>
            </a:solidFill>
            <a:prstDash val="solid"/>
          </a:ln>
        </p:spPr>
      </p:sp>
      <p:sp>
        <p:nvSpPr>
          <p:cNvPr id="10" name="Text 8"/>
          <p:cNvSpPr/>
          <p:nvPr/>
        </p:nvSpPr>
        <p:spPr>
          <a:xfrm>
            <a:off x="3840480" y="1389888"/>
            <a:ext cx="4846320" cy="320040"/>
          </a:xfrm>
          <a:prstGeom prst="rect">
            <a:avLst/>
          </a:prstGeom>
          <a:noFill/>
          <a:ln/>
        </p:spPr>
        <p:txBody>
          <a:bodyPr wrap="square" lIns="0" tIns="0" rIns="0" bIns="0" rtlCol="0" anchor="ctr"/>
          <a:lstStyle/>
          <a:p>
            <a:pPr indent="0" marL="0">
              <a:buNone/>
            </a:pPr>
            <a:r>
              <a:rPr lang="en-US" sz="1400" b="1" dirty="0">
                <a:solidFill>
                  <a:srgbClr val="1A1A1A"/>
                </a:solidFill>
                <a:latin typeface="Calibri" pitchFamily="34" charset="0"/>
                <a:ea typeface="Calibri" pitchFamily="34" charset="-122"/>
                <a:cs typeface="Calibri" pitchFamily="34" charset="-120"/>
              </a:rPr>
              <a:t>R² = 0.645</a:t>
            </a:r>
            <a:endParaRPr lang="en-US" sz="1400" dirty="0"/>
          </a:p>
        </p:txBody>
      </p:sp>
      <p:sp>
        <p:nvSpPr>
          <p:cNvPr id="11" name="Text 9"/>
          <p:cNvSpPr/>
          <p:nvPr/>
        </p:nvSpPr>
        <p:spPr>
          <a:xfrm>
            <a:off x="3840480" y="1737360"/>
            <a:ext cx="4846320" cy="320040"/>
          </a:xfrm>
          <a:prstGeom prst="rect">
            <a:avLst/>
          </a:prstGeom>
          <a:noFill/>
          <a:ln/>
        </p:spPr>
        <p:txBody>
          <a:bodyPr wrap="square" lIns="0" tIns="0" rIns="0" bIns="0" rtlCol="0" anchor="ctr"/>
          <a:lstStyle/>
          <a:p>
            <a:pPr indent="0" marL="0">
              <a:buNone/>
            </a:pPr>
            <a:r>
              <a:rPr lang="en-US" sz="1100" dirty="0">
                <a:solidFill>
                  <a:srgbClr val="555555"/>
                </a:solidFill>
                <a:latin typeface="Calibri" pitchFamily="34" charset="0"/>
                <a:ea typeface="Calibri" pitchFamily="34" charset="-122"/>
                <a:cs typeface="Calibri" pitchFamily="34" charset="-120"/>
              </a:rPr>
              <a:t>The model explains 64.5% of STIR variation across all neighbourhoods</a:t>
            </a:r>
            <a:endParaRPr lang="en-US" sz="1100" dirty="0"/>
          </a:p>
        </p:txBody>
      </p:sp>
      <p:sp>
        <p:nvSpPr>
          <p:cNvPr id="12" name="Shape 10"/>
          <p:cNvSpPr/>
          <p:nvPr/>
        </p:nvSpPr>
        <p:spPr>
          <a:xfrm>
            <a:off x="3657600" y="2377440"/>
            <a:ext cx="5212080" cy="914400"/>
          </a:xfrm>
          <a:prstGeom prst="rect">
            <a:avLst/>
          </a:prstGeom>
          <a:solidFill>
            <a:srgbClr val="FFFFFF"/>
          </a:solidFill>
          <a:ln w="6350">
            <a:solidFill>
              <a:srgbClr val="E8E6E0"/>
            </a:solidFill>
            <a:prstDash val="solid"/>
          </a:ln>
          <a:effectLst>
            <a:outerShdw sx="100000" sy="100000" kx="0" ky="0" algn="bl" rotWithShape="0" blurRad="76200" dist="25400" dir="8100000">
              <a:srgbClr val="000000">
                <a:alpha val="7000"/>
              </a:srgbClr>
            </a:outerShdw>
          </a:effectLst>
        </p:spPr>
      </p:sp>
      <p:sp>
        <p:nvSpPr>
          <p:cNvPr id="13" name="Shape 11"/>
          <p:cNvSpPr/>
          <p:nvPr/>
        </p:nvSpPr>
        <p:spPr>
          <a:xfrm>
            <a:off x="3657600" y="2377440"/>
            <a:ext cx="54864" cy="914400"/>
          </a:xfrm>
          <a:prstGeom prst="rect">
            <a:avLst/>
          </a:prstGeom>
          <a:solidFill>
            <a:srgbClr val="E8834A"/>
          </a:solidFill>
          <a:ln w="12700">
            <a:solidFill>
              <a:srgbClr val="E8834A"/>
            </a:solidFill>
            <a:prstDash val="solid"/>
          </a:ln>
        </p:spPr>
      </p:sp>
      <p:sp>
        <p:nvSpPr>
          <p:cNvPr id="14" name="Text 12"/>
          <p:cNvSpPr/>
          <p:nvPr/>
        </p:nvSpPr>
        <p:spPr>
          <a:xfrm>
            <a:off x="3840480" y="2487168"/>
            <a:ext cx="4846320" cy="320040"/>
          </a:xfrm>
          <a:prstGeom prst="rect">
            <a:avLst/>
          </a:prstGeom>
          <a:noFill/>
          <a:ln/>
        </p:spPr>
        <p:txBody>
          <a:bodyPr wrap="square" lIns="0" tIns="0" rIns="0" bIns="0" rtlCol="0" anchor="ctr"/>
          <a:lstStyle/>
          <a:p>
            <a:pPr indent="0" marL="0">
              <a:buNone/>
            </a:pPr>
            <a:r>
              <a:rPr lang="en-US" sz="1400" b="1" dirty="0">
                <a:solidFill>
                  <a:srgbClr val="1A1A1A"/>
                </a:solidFill>
                <a:latin typeface="Calibri" pitchFamily="34" charset="0"/>
                <a:ea typeface="Calibri" pitchFamily="34" charset="-122"/>
                <a:cs typeface="Calibri" pitchFamily="34" charset="-120"/>
              </a:rPr>
              <a:t>West Vancouver</a:t>
            </a:r>
            <a:endParaRPr lang="en-US" sz="1400" dirty="0"/>
          </a:p>
        </p:txBody>
      </p:sp>
      <p:sp>
        <p:nvSpPr>
          <p:cNvPr id="15" name="Text 13"/>
          <p:cNvSpPr/>
          <p:nvPr/>
        </p:nvSpPr>
        <p:spPr>
          <a:xfrm>
            <a:off x="3840480" y="2834640"/>
            <a:ext cx="4846320" cy="320040"/>
          </a:xfrm>
          <a:prstGeom prst="rect">
            <a:avLst/>
          </a:prstGeom>
          <a:noFill/>
          <a:ln/>
        </p:spPr>
        <p:txBody>
          <a:bodyPr wrap="square" lIns="0" tIns="0" rIns="0" bIns="0" rtlCol="0" anchor="ctr"/>
          <a:lstStyle/>
          <a:p>
            <a:pPr indent="0" marL="0">
              <a:buNone/>
            </a:pPr>
            <a:r>
              <a:rPr lang="en-US" sz="1100" dirty="0">
                <a:solidFill>
                  <a:srgbClr val="555555"/>
                </a:solidFill>
                <a:latin typeface="Calibri" pitchFamily="34" charset="0"/>
                <a:ea typeface="Calibri" pitchFamily="34" charset="-122"/>
                <a:cs typeface="Calibri" pitchFamily="34" charset="-120"/>
              </a:rPr>
              <a:t>$245k avg income — immigrant renters still spend 35.7% on housing</a:t>
            </a:r>
            <a:endParaRPr lang="en-US" sz="1100" dirty="0"/>
          </a:p>
        </p:txBody>
      </p:sp>
      <p:sp>
        <p:nvSpPr>
          <p:cNvPr id="16" name="Shape 14"/>
          <p:cNvSpPr/>
          <p:nvPr/>
        </p:nvSpPr>
        <p:spPr>
          <a:xfrm>
            <a:off x="3657600" y="3474720"/>
            <a:ext cx="5212080" cy="914400"/>
          </a:xfrm>
          <a:prstGeom prst="rect">
            <a:avLst/>
          </a:prstGeom>
          <a:solidFill>
            <a:srgbClr val="FFFFFF"/>
          </a:solidFill>
          <a:ln w="6350">
            <a:solidFill>
              <a:srgbClr val="E8E6E0"/>
            </a:solidFill>
            <a:prstDash val="solid"/>
          </a:ln>
          <a:effectLst>
            <a:outerShdw sx="100000" sy="100000" kx="0" ky="0" algn="bl" rotWithShape="0" blurRad="76200" dist="25400" dir="8100000">
              <a:srgbClr val="000000">
                <a:alpha val="7000"/>
              </a:srgbClr>
            </a:outerShdw>
          </a:effectLst>
        </p:spPr>
      </p:sp>
      <p:sp>
        <p:nvSpPr>
          <p:cNvPr id="17" name="Shape 15"/>
          <p:cNvSpPr/>
          <p:nvPr/>
        </p:nvSpPr>
        <p:spPr>
          <a:xfrm>
            <a:off x="3657600" y="3474720"/>
            <a:ext cx="54864" cy="914400"/>
          </a:xfrm>
          <a:prstGeom prst="rect">
            <a:avLst/>
          </a:prstGeom>
          <a:solidFill>
            <a:srgbClr val="E8834A"/>
          </a:solidFill>
          <a:ln w="12700">
            <a:solidFill>
              <a:srgbClr val="E8834A"/>
            </a:solidFill>
            <a:prstDash val="solid"/>
          </a:ln>
        </p:spPr>
      </p:sp>
      <p:sp>
        <p:nvSpPr>
          <p:cNvPr id="18" name="Text 16"/>
          <p:cNvSpPr/>
          <p:nvPr/>
        </p:nvSpPr>
        <p:spPr>
          <a:xfrm>
            <a:off x="3840480" y="3584448"/>
            <a:ext cx="4846320" cy="320040"/>
          </a:xfrm>
          <a:prstGeom prst="rect">
            <a:avLst/>
          </a:prstGeom>
          <a:noFill/>
          <a:ln/>
        </p:spPr>
        <p:txBody>
          <a:bodyPr wrap="square" lIns="0" tIns="0" rIns="0" bIns="0" rtlCol="0" anchor="ctr"/>
          <a:lstStyle/>
          <a:p>
            <a:pPr indent="0" marL="0">
              <a:buNone/>
            </a:pPr>
            <a:r>
              <a:rPr lang="en-US" sz="1400" b="1" dirty="0">
                <a:solidFill>
                  <a:srgbClr val="1A1A1A"/>
                </a:solidFill>
                <a:latin typeface="Calibri" pitchFamily="34" charset="0"/>
                <a:ea typeface="Calibri" pitchFamily="34" charset="-122"/>
                <a:cs typeface="Calibri" pitchFamily="34" charset="-120"/>
              </a:rPr>
              <a:t>Richmond Hill</a:t>
            </a:r>
            <a:endParaRPr lang="en-US" sz="1400" dirty="0"/>
          </a:p>
        </p:txBody>
      </p:sp>
      <p:sp>
        <p:nvSpPr>
          <p:cNvPr id="19" name="Text 17"/>
          <p:cNvSpPr/>
          <p:nvPr/>
        </p:nvSpPr>
        <p:spPr>
          <a:xfrm>
            <a:off x="3840480" y="3931920"/>
            <a:ext cx="4846320" cy="320040"/>
          </a:xfrm>
          <a:prstGeom prst="rect">
            <a:avLst/>
          </a:prstGeom>
          <a:noFill/>
          <a:ln/>
        </p:spPr>
        <p:txBody>
          <a:bodyPr wrap="square" lIns="0" tIns="0" rIns="0" bIns="0" rtlCol="0" anchor="ctr"/>
          <a:lstStyle/>
          <a:p>
            <a:pPr indent="0" marL="0">
              <a:buNone/>
            </a:pPr>
            <a:r>
              <a:rPr lang="en-US" sz="1100" dirty="0">
                <a:solidFill>
                  <a:srgbClr val="555555"/>
                </a:solidFill>
                <a:latin typeface="Calibri" pitchFamily="34" charset="0"/>
                <a:ea typeface="Calibri" pitchFamily="34" charset="-122"/>
                <a:cs typeface="Calibri" pitchFamily="34" charset="-120"/>
              </a:rPr>
              <a:t>$153k avg income — immigrant renters at 33.1%, above the 30% threshold</a:t>
            </a:r>
            <a:endParaRPr lang="en-US" sz="1100" dirty="0"/>
          </a:p>
        </p:txBody>
      </p:sp>
      <p:sp>
        <p:nvSpPr>
          <p:cNvPr id="20" name="Text 18"/>
          <p:cNvSpPr/>
          <p:nvPr/>
        </p:nvSpPr>
        <p:spPr>
          <a:xfrm>
            <a:off x="457200" y="4754880"/>
            <a:ext cx="8412480" cy="228600"/>
          </a:xfrm>
          <a:prstGeom prst="rect">
            <a:avLst/>
          </a:prstGeom>
          <a:noFill/>
          <a:ln/>
        </p:spPr>
        <p:txBody>
          <a:bodyPr wrap="square" lIns="0" tIns="0" rIns="0" bIns="0" rtlCol="0" anchor="ctr"/>
          <a:lstStyle/>
          <a:p>
            <a:pPr indent="0" marL="0">
              <a:buNone/>
            </a:pPr>
            <a:r>
              <a:rPr lang="en-US" sz="900" dirty="0">
                <a:solidFill>
                  <a:srgbClr val="7A7870"/>
                </a:solidFill>
                <a:latin typeface="Calibri" pitchFamily="34" charset="0"/>
                <a:ea typeface="Calibri" pitchFamily="34" charset="-122"/>
                <a:cs typeface="Calibri" pitchFamily="34" charset="-120"/>
              </a:rPr>
              <a:t>From a linear regression controlling for income and city — the coefficient on immigrant status is the Invisible Tax.</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F1117"/>
        </a:solidFill>
      </p:bgPr>
    </p:bg>
    <p:spTree>
      <p:nvGrpSpPr>
        <p:cNvPr id="1" name=""/>
        <p:cNvGrpSpPr/>
        <p:nvPr/>
      </p:nvGrpSpPr>
      <p:grpSpPr>
        <a:xfrm>
          <a:off x="0" y="0"/>
          <a:ext cx="0" cy="0"/>
          <a:chOff x="0" y="0"/>
          <a:chExt cx="0" cy="0"/>
        </a:xfrm>
      </p:grpSpPr>
      <p:sp>
        <p:nvSpPr>
          <p:cNvPr id="2" name="Text 0"/>
          <p:cNvSpPr/>
          <p:nvPr/>
        </p:nvSpPr>
        <p:spPr>
          <a:xfrm>
            <a:off x="457200" y="228600"/>
            <a:ext cx="8229600" cy="502920"/>
          </a:xfrm>
          <a:prstGeom prst="rect">
            <a:avLst/>
          </a:prstGeom>
          <a:noFill/>
          <a:ln/>
        </p:spPr>
        <p:txBody>
          <a:bodyPr wrap="square" lIns="0" tIns="0" rIns="0" bIns="0" rtlCol="0" anchor="ctr"/>
          <a:lstStyle/>
          <a:p>
            <a:pPr indent="0" marL="0">
              <a:buNone/>
            </a:pPr>
            <a:r>
              <a:rPr lang="en-US" sz="3000" b="1" dirty="0">
                <a:solidFill>
                  <a:srgbClr val="FFFFFF"/>
                </a:solidFill>
                <a:latin typeface="Georgia" pitchFamily="34" charset="0"/>
                <a:ea typeface="Georgia" pitchFamily="34" charset="-122"/>
                <a:cs typeface="Georgia" pitchFamily="34" charset="-120"/>
              </a:rPr>
              <a:t>The Penalty is Not National — It is Local</a:t>
            </a:r>
            <a:endParaRPr lang="en-US" sz="3000" dirty="0"/>
          </a:p>
        </p:txBody>
      </p:sp>
      <p:sp>
        <p:nvSpPr>
          <p:cNvPr id="3" name="Text 1"/>
          <p:cNvSpPr/>
          <p:nvPr/>
        </p:nvSpPr>
        <p:spPr>
          <a:xfrm>
            <a:off x="457200" y="749808"/>
            <a:ext cx="8229600" cy="274320"/>
          </a:xfrm>
          <a:prstGeom prst="rect">
            <a:avLst/>
          </a:prstGeom>
          <a:noFill/>
          <a:ln/>
        </p:spPr>
        <p:txBody>
          <a:bodyPr wrap="square" lIns="0" tIns="0" rIns="0" bIns="0" rtlCol="0" anchor="ctr"/>
          <a:lstStyle/>
          <a:p>
            <a:pPr indent="0" marL="0">
              <a:buNone/>
            </a:pPr>
            <a:r>
              <a:rPr lang="en-US" sz="1300" dirty="0">
                <a:solidFill>
                  <a:srgbClr val="7A7870"/>
                </a:solidFill>
                <a:latin typeface="Calibri" pitchFamily="34" charset="0"/>
                <a:ea typeface="Calibri" pitchFamily="34" charset="-122"/>
                <a:cs typeface="Calibri" pitchFamily="34" charset="-120"/>
              </a:rPr>
              <a:t>Immigrant housing penalty by city after controlling for income (interaction model)</a:t>
            </a:r>
            <a:endParaRPr lang="en-US" sz="1300" dirty="0"/>
          </a:p>
        </p:txBody>
      </p:sp>
      <p:sp>
        <p:nvSpPr>
          <p:cNvPr id="4" name="Shape 2"/>
          <p:cNvSpPr/>
          <p:nvPr/>
        </p:nvSpPr>
        <p:spPr>
          <a:xfrm>
            <a:off x="365760" y="1188720"/>
            <a:ext cx="1920240" cy="3474720"/>
          </a:xfrm>
          <a:prstGeom prst="rect">
            <a:avLst/>
          </a:prstGeom>
          <a:solidFill>
            <a:srgbClr val="1C1E27"/>
          </a:solidFill>
          <a:ln w="10160">
            <a:solidFill>
              <a:srgbClr val="E8834A"/>
            </a:solidFill>
            <a:prstDash val="solid"/>
          </a:ln>
        </p:spPr>
      </p:sp>
      <p:sp>
        <p:nvSpPr>
          <p:cNvPr id="5" name="Text 3"/>
          <p:cNvSpPr/>
          <p:nvPr/>
        </p:nvSpPr>
        <p:spPr>
          <a:xfrm>
            <a:off x="365760" y="1325880"/>
            <a:ext cx="192024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Toronto</a:t>
            </a:r>
            <a:endParaRPr lang="en-US" sz="1300" dirty="0"/>
          </a:p>
        </p:txBody>
      </p:sp>
      <p:sp>
        <p:nvSpPr>
          <p:cNvPr id="6" name="Text 4"/>
          <p:cNvSpPr/>
          <p:nvPr/>
        </p:nvSpPr>
        <p:spPr>
          <a:xfrm>
            <a:off x="365760" y="1783080"/>
            <a:ext cx="1920240" cy="822960"/>
          </a:xfrm>
          <a:prstGeom prst="rect">
            <a:avLst/>
          </a:prstGeom>
          <a:noFill/>
          <a:ln/>
        </p:spPr>
        <p:txBody>
          <a:bodyPr wrap="square" lIns="0" tIns="0" rIns="0" bIns="0" rtlCol="0" anchor="ctr"/>
          <a:lstStyle/>
          <a:p>
            <a:pPr algn="ctr" indent="0" marL="0">
              <a:buNone/>
            </a:pPr>
            <a:r>
              <a:rPr lang="en-US" sz="3400" b="1" dirty="0">
                <a:solidFill>
                  <a:srgbClr val="E8834A"/>
                </a:solidFill>
                <a:latin typeface="Georgia" pitchFamily="34" charset="0"/>
                <a:ea typeface="Georgia" pitchFamily="34" charset="-122"/>
                <a:cs typeface="Georgia" pitchFamily="34" charset="-120"/>
              </a:rPr>
              <a:t>+5.37pp</a:t>
            </a:r>
            <a:endParaRPr lang="en-US" sz="3400" dirty="0"/>
          </a:p>
        </p:txBody>
      </p:sp>
      <p:sp>
        <p:nvSpPr>
          <p:cNvPr id="7" name="Shape 5"/>
          <p:cNvSpPr/>
          <p:nvPr/>
        </p:nvSpPr>
        <p:spPr>
          <a:xfrm>
            <a:off x="548640" y="2697480"/>
            <a:ext cx="1554480" cy="320040"/>
          </a:xfrm>
          <a:prstGeom prst="rect">
            <a:avLst/>
          </a:prstGeom>
          <a:solidFill>
            <a:srgbClr val="E8834A">
              <a:alpha val="20000"/>
            </a:srgbClr>
          </a:solidFill>
          <a:ln w="12700">
            <a:solidFill>
              <a:srgbClr val="E8834A">
                <a:alpha val="20000"/>
              </a:srgbClr>
            </a:solidFill>
            <a:prstDash val="solid"/>
          </a:ln>
        </p:spPr>
      </p:sp>
      <p:sp>
        <p:nvSpPr>
          <p:cNvPr id="8" name="Text 6"/>
          <p:cNvSpPr/>
          <p:nvPr/>
        </p:nvSpPr>
        <p:spPr>
          <a:xfrm>
            <a:off x="548640" y="2724912"/>
            <a:ext cx="1554480" cy="256032"/>
          </a:xfrm>
          <a:prstGeom prst="rect">
            <a:avLst/>
          </a:prstGeom>
          <a:noFill/>
          <a:ln/>
        </p:spPr>
        <p:txBody>
          <a:bodyPr wrap="square" lIns="0" tIns="0" rIns="0" bIns="0" rtlCol="0" anchor="ctr"/>
          <a:lstStyle/>
          <a:p>
            <a:pPr algn="ctr" indent="0" marL="0">
              <a:buNone/>
            </a:pPr>
            <a:r>
              <a:rPr lang="en-US" sz="900" b="1" dirty="0">
                <a:solidFill>
                  <a:srgbClr val="E8834A"/>
                </a:solidFill>
                <a:latin typeface="Calibri" pitchFamily="34" charset="0"/>
                <a:ea typeface="Calibri" pitchFamily="34" charset="-122"/>
                <a:cs typeface="Calibri" pitchFamily="34" charset="-120"/>
              </a:rPr>
              <a:t>p &lt; 0.01</a:t>
            </a:r>
            <a:endParaRPr lang="en-US" sz="900" dirty="0"/>
          </a:p>
        </p:txBody>
      </p:sp>
      <p:sp>
        <p:nvSpPr>
          <p:cNvPr id="9" name="Text 7"/>
          <p:cNvSpPr/>
          <p:nvPr/>
        </p:nvSpPr>
        <p:spPr>
          <a:xfrm>
            <a:off x="365760" y="3154680"/>
            <a:ext cx="1920240" cy="731520"/>
          </a:xfrm>
          <a:prstGeom prst="rect">
            <a:avLst/>
          </a:prstGeom>
          <a:noFill/>
          <a:ln/>
        </p:spPr>
        <p:txBody>
          <a:bodyPr wrap="square" lIns="0" tIns="0" rIns="0" bIns="0" rtlCol="0" anchor="ctr"/>
          <a:lstStyle/>
          <a:p>
            <a:pPr algn="ctr" indent="0" marL="0">
              <a:lnSpc>
                <a:spcPct val="140000"/>
              </a:lnSpc>
              <a:buNone/>
            </a:pPr>
            <a:r>
              <a:rPr lang="en-US" sz="1000" dirty="0">
                <a:solidFill>
                  <a:srgbClr val="7A7870"/>
                </a:solidFill>
                <a:latin typeface="Calibri" pitchFamily="34" charset="0"/>
                <a:ea typeface="Calibri" pitchFamily="34" charset="-122"/>
                <a:cs typeface="Calibri" pitchFamily="34" charset="-120"/>
              </a:rPr>
              <a:t>Statistically significant</a:t>
            </a:r>
            <a:endParaRPr lang="en-US" sz="1000" dirty="0"/>
          </a:p>
        </p:txBody>
      </p:sp>
      <p:sp>
        <p:nvSpPr>
          <p:cNvPr id="10" name="Shape 8"/>
          <p:cNvSpPr/>
          <p:nvPr/>
        </p:nvSpPr>
        <p:spPr>
          <a:xfrm>
            <a:off x="2514600" y="1188720"/>
            <a:ext cx="1920240" cy="3474720"/>
          </a:xfrm>
          <a:prstGeom prst="rect">
            <a:avLst/>
          </a:prstGeom>
          <a:solidFill>
            <a:srgbClr val="1C1E27"/>
          </a:solidFill>
          <a:ln w="10160">
            <a:solidFill>
              <a:srgbClr val="5B9BD5"/>
            </a:solidFill>
            <a:prstDash val="solid"/>
          </a:ln>
        </p:spPr>
      </p:sp>
      <p:sp>
        <p:nvSpPr>
          <p:cNvPr id="11" name="Text 9"/>
          <p:cNvSpPr/>
          <p:nvPr/>
        </p:nvSpPr>
        <p:spPr>
          <a:xfrm>
            <a:off x="2514600" y="1325880"/>
            <a:ext cx="192024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Vancouver</a:t>
            </a:r>
            <a:endParaRPr lang="en-US" sz="1300" dirty="0"/>
          </a:p>
        </p:txBody>
      </p:sp>
      <p:sp>
        <p:nvSpPr>
          <p:cNvPr id="12" name="Text 10"/>
          <p:cNvSpPr/>
          <p:nvPr/>
        </p:nvSpPr>
        <p:spPr>
          <a:xfrm>
            <a:off x="2514600" y="1783080"/>
            <a:ext cx="1920240" cy="822960"/>
          </a:xfrm>
          <a:prstGeom prst="rect">
            <a:avLst/>
          </a:prstGeom>
          <a:noFill/>
          <a:ln/>
        </p:spPr>
        <p:txBody>
          <a:bodyPr wrap="square" lIns="0" tIns="0" rIns="0" bIns="0" rtlCol="0" anchor="ctr"/>
          <a:lstStyle/>
          <a:p>
            <a:pPr algn="ctr" indent="0" marL="0">
              <a:buNone/>
            </a:pPr>
            <a:r>
              <a:rPr lang="en-US" sz="3400" b="1" dirty="0">
                <a:solidFill>
                  <a:srgbClr val="5B9BD5"/>
                </a:solidFill>
                <a:latin typeface="Georgia" pitchFamily="34" charset="0"/>
                <a:ea typeface="Georgia" pitchFamily="34" charset="-122"/>
                <a:cs typeface="Georgia" pitchFamily="34" charset="-120"/>
              </a:rPr>
              <a:t>+3.57pp</a:t>
            </a:r>
            <a:endParaRPr lang="en-US" sz="3400" dirty="0"/>
          </a:p>
        </p:txBody>
      </p:sp>
      <p:sp>
        <p:nvSpPr>
          <p:cNvPr id="13" name="Shape 11"/>
          <p:cNvSpPr/>
          <p:nvPr/>
        </p:nvSpPr>
        <p:spPr>
          <a:xfrm>
            <a:off x="2697480" y="2697480"/>
            <a:ext cx="1554480" cy="320040"/>
          </a:xfrm>
          <a:prstGeom prst="rect">
            <a:avLst/>
          </a:prstGeom>
          <a:solidFill>
            <a:srgbClr val="5B9BD5">
              <a:alpha val="20000"/>
            </a:srgbClr>
          </a:solidFill>
          <a:ln w="12700">
            <a:solidFill>
              <a:srgbClr val="5B9BD5">
                <a:alpha val="20000"/>
              </a:srgbClr>
            </a:solidFill>
            <a:prstDash val="solid"/>
          </a:ln>
        </p:spPr>
      </p:sp>
      <p:sp>
        <p:nvSpPr>
          <p:cNvPr id="14" name="Text 12"/>
          <p:cNvSpPr/>
          <p:nvPr/>
        </p:nvSpPr>
        <p:spPr>
          <a:xfrm>
            <a:off x="2697480" y="2724912"/>
            <a:ext cx="1554480" cy="256032"/>
          </a:xfrm>
          <a:prstGeom prst="rect">
            <a:avLst/>
          </a:prstGeom>
          <a:noFill/>
          <a:ln/>
        </p:spPr>
        <p:txBody>
          <a:bodyPr wrap="square" lIns="0" tIns="0" rIns="0" bIns="0" rtlCol="0" anchor="ctr"/>
          <a:lstStyle/>
          <a:p>
            <a:pPr algn="ctr" indent="0" marL="0">
              <a:buNone/>
            </a:pPr>
            <a:r>
              <a:rPr lang="en-US" sz="900" b="1" dirty="0">
                <a:solidFill>
                  <a:srgbClr val="5B9BD5"/>
                </a:solidFill>
                <a:latin typeface="Calibri" pitchFamily="34" charset="0"/>
                <a:ea typeface="Calibri" pitchFamily="34" charset="-122"/>
                <a:cs typeface="Calibri" pitchFamily="34" charset="-120"/>
              </a:rPr>
              <a:t>p &lt; 0.01</a:t>
            </a:r>
            <a:endParaRPr lang="en-US" sz="900" dirty="0"/>
          </a:p>
        </p:txBody>
      </p:sp>
      <p:sp>
        <p:nvSpPr>
          <p:cNvPr id="15" name="Text 13"/>
          <p:cNvSpPr/>
          <p:nvPr/>
        </p:nvSpPr>
        <p:spPr>
          <a:xfrm>
            <a:off x="2514600" y="3154680"/>
            <a:ext cx="1920240" cy="731520"/>
          </a:xfrm>
          <a:prstGeom prst="rect">
            <a:avLst/>
          </a:prstGeom>
          <a:noFill/>
          <a:ln/>
        </p:spPr>
        <p:txBody>
          <a:bodyPr wrap="square" lIns="0" tIns="0" rIns="0" bIns="0" rtlCol="0" anchor="ctr"/>
          <a:lstStyle/>
          <a:p>
            <a:pPr algn="ctr" indent="0" marL="0">
              <a:lnSpc>
                <a:spcPct val="140000"/>
              </a:lnSpc>
              <a:buNone/>
            </a:pPr>
            <a:r>
              <a:rPr lang="en-US" sz="1000" dirty="0">
                <a:solidFill>
                  <a:srgbClr val="7A7870"/>
                </a:solidFill>
                <a:latin typeface="Calibri" pitchFamily="34" charset="0"/>
                <a:ea typeface="Calibri" pitchFamily="34" charset="-122"/>
                <a:cs typeface="Calibri" pitchFamily="34" charset="-120"/>
              </a:rPr>
              <a:t>Statistically significant</a:t>
            </a:r>
            <a:endParaRPr lang="en-US" sz="1000" dirty="0"/>
          </a:p>
        </p:txBody>
      </p:sp>
      <p:sp>
        <p:nvSpPr>
          <p:cNvPr id="16" name="Shape 14"/>
          <p:cNvSpPr/>
          <p:nvPr/>
        </p:nvSpPr>
        <p:spPr>
          <a:xfrm>
            <a:off x="4663440" y="1188720"/>
            <a:ext cx="1920240" cy="3474720"/>
          </a:xfrm>
          <a:prstGeom prst="rect">
            <a:avLst/>
          </a:prstGeom>
          <a:solidFill>
            <a:srgbClr val="1C1E27"/>
          </a:solidFill>
          <a:ln w="10160">
            <a:solidFill>
              <a:srgbClr val="8E75C9"/>
            </a:solidFill>
            <a:prstDash val="solid"/>
          </a:ln>
        </p:spPr>
      </p:sp>
      <p:sp>
        <p:nvSpPr>
          <p:cNvPr id="17" name="Text 15"/>
          <p:cNvSpPr/>
          <p:nvPr/>
        </p:nvSpPr>
        <p:spPr>
          <a:xfrm>
            <a:off x="4663440" y="1325880"/>
            <a:ext cx="192024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Montreal</a:t>
            </a:r>
            <a:endParaRPr lang="en-US" sz="1300" dirty="0"/>
          </a:p>
        </p:txBody>
      </p:sp>
      <p:sp>
        <p:nvSpPr>
          <p:cNvPr id="18" name="Text 16"/>
          <p:cNvSpPr/>
          <p:nvPr/>
        </p:nvSpPr>
        <p:spPr>
          <a:xfrm>
            <a:off x="4663440" y="1783080"/>
            <a:ext cx="1920240" cy="822960"/>
          </a:xfrm>
          <a:prstGeom prst="rect">
            <a:avLst/>
          </a:prstGeom>
          <a:noFill/>
          <a:ln/>
        </p:spPr>
        <p:txBody>
          <a:bodyPr wrap="square" lIns="0" tIns="0" rIns="0" bIns="0" rtlCol="0" anchor="ctr"/>
          <a:lstStyle/>
          <a:p>
            <a:pPr algn="ctr" indent="0" marL="0">
              <a:buNone/>
            </a:pPr>
            <a:r>
              <a:rPr lang="en-US" sz="3400" b="1" dirty="0">
                <a:solidFill>
                  <a:srgbClr val="8E75C9"/>
                </a:solidFill>
                <a:latin typeface="Georgia" pitchFamily="34" charset="0"/>
                <a:ea typeface="Georgia" pitchFamily="34" charset="-122"/>
                <a:cs typeface="Georgia" pitchFamily="34" charset="-120"/>
              </a:rPr>
              <a:t>+0.85pp</a:t>
            </a:r>
            <a:endParaRPr lang="en-US" sz="3400" dirty="0"/>
          </a:p>
        </p:txBody>
      </p:sp>
      <p:sp>
        <p:nvSpPr>
          <p:cNvPr id="19" name="Shape 17"/>
          <p:cNvSpPr/>
          <p:nvPr/>
        </p:nvSpPr>
        <p:spPr>
          <a:xfrm>
            <a:off x="4846320" y="2697480"/>
            <a:ext cx="1554480" cy="320040"/>
          </a:xfrm>
          <a:prstGeom prst="rect">
            <a:avLst/>
          </a:prstGeom>
          <a:solidFill>
            <a:srgbClr val="8E75C9">
              <a:alpha val="20000"/>
            </a:srgbClr>
          </a:solidFill>
          <a:ln w="12700">
            <a:solidFill>
              <a:srgbClr val="8E75C9">
                <a:alpha val="20000"/>
              </a:srgbClr>
            </a:solidFill>
            <a:prstDash val="solid"/>
          </a:ln>
        </p:spPr>
      </p:sp>
      <p:sp>
        <p:nvSpPr>
          <p:cNvPr id="20" name="Text 18"/>
          <p:cNvSpPr/>
          <p:nvPr/>
        </p:nvSpPr>
        <p:spPr>
          <a:xfrm>
            <a:off x="4846320" y="2724912"/>
            <a:ext cx="1554480" cy="256032"/>
          </a:xfrm>
          <a:prstGeom prst="rect">
            <a:avLst/>
          </a:prstGeom>
          <a:noFill/>
          <a:ln/>
        </p:spPr>
        <p:txBody>
          <a:bodyPr wrap="square" lIns="0" tIns="0" rIns="0" bIns="0" rtlCol="0" anchor="ctr"/>
          <a:lstStyle/>
          <a:p>
            <a:pPr algn="ctr" indent="0" marL="0">
              <a:buNone/>
            </a:pPr>
            <a:r>
              <a:rPr lang="en-US" sz="900" b="1" dirty="0">
                <a:solidFill>
                  <a:srgbClr val="8E75C9"/>
                </a:solidFill>
                <a:latin typeface="Calibri" pitchFamily="34" charset="0"/>
                <a:ea typeface="Calibri" pitchFamily="34" charset="-122"/>
                <a:cs typeface="Calibri" pitchFamily="34" charset="-120"/>
              </a:rPr>
              <a:t>Not significant</a:t>
            </a:r>
            <a:endParaRPr lang="en-US" sz="900" dirty="0"/>
          </a:p>
        </p:txBody>
      </p:sp>
      <p:sp>
        <p:nvSpPr>
          <p:cNvPr id="21" name="Text 19"/>
          <p:cNvSpPr/>
          <p:nvPr/>
        </p:nvSpPr>
        <p:spPr>
          <a:xfrm>
            <a:off x="4663440" y="3154680"/>
            <a:ext cx="1920240" cy="731520"/>
          </a:xfrm>
          <a:prstGeom prst="rect">
            <a:avLst/>
          </a:prstGeom>
          <a:noFill/>
          <a:ln/>
        </p:spPr>
        <p:txBody>
          <a:bodyPr wrap="square" lIns="0" tIns="0" rIns="0" bIns="0" rtlCol="0" anchor="ctr"/>
          <a:lstStyle/>
          <a:p>
            <a:pPr algn="ctr" indent="0" marL="0">
              <a:lnSpc>
                <a:spcPct val="140000"/>
              </a:lnSpc>
              <a:buNone/>
            </a:pPr>
            <a:r>
              <a:rPr lang="en-US" sz="1000" dirty="0">
                <a:solidFill>
                  <a:srgbClr val="7A7870"/>
                </a:solidFill>
                <a:latin typeface="Calibri" pitchFamily="34" charset="0"/>
                <a:ea typeface="Calibri" pitchFamily="34" charset="-122"/>
                <a:cs typeface="Calibri" pitchFamily="34" charset="-120"/>
              </a:rPr>
              <a:t>Penalty disappears</a:t>
            </a:r>
            <a:endParaRPr lang="en-US" sz="1000" dirty="0"/>
          </a:p>
          <a:p>
            <a:pPr algn="ctr" indent="0" marL="0">
              <a:lnSpc>
                <a:spcPct val="140000"/>
              </a:lnSpc>
              <a:buNone/>
            </a:pPr>
            <a:r>
              <a:rPr lang="en-US" sz="1000" dirty="0">
                <a:solidFill>
                  <a:srgbClr val="7A7870"/>
                </a:solidFill>
                <a:latin typeface="Calibri" pitchFamily="34" charset="0"/>
                <a:ea typeface="Calibri" pitchFamily="34" charset="-122"/>
                <a:cs typeface="Calibri" pitchFamily="34" charset="-120"/>
              </a:rPr>
              <a:t>once income controlled</a:t>
            </a:r>
            <a:endParaRPr lang="en-US" sz="1000" dirty="0"/>
          </a:p>
        </p:txBody>
      </p:sp>
      <p:sp>
        <p:nvSpPr>
          <p:cNvPr id="22" name="Shape 20"/>
          <p:cNvSpPr/>
          <p:nvPr/>
        </p:nvSpPr>
        <p:spPr>
          <a:xfrm>
            <a:off x="6812280" y="1188720"/>
            <a:ext cx="1920240" cy="3474720"/>
          </a:xfrm>
          <a:prstGeom prst="rect">
            <a:avLst/>
          </a:prstGeom>
          <a:solidFill>
            <a:srgbClr val="1C1E27"/>
          </a:solidFill>
          <a:ln w="10160">
            <a:solidFill>
              <a:srgbClr val="4DAB7E"/>
            </a:solidFill>
            <a:prstDash val="solid"/>
          </a:ln>
        </p:spPr>
      </p:sp>
      <p:sp>
        <p:nvSpPr>
          <p:cNvPr id="23" name="Text 21"/>
          <p:cNvSpPr/>
          <p:nvPr/>
        </p:nvSpPr>
        <p:spPr>
          <a:xfrm>
            <a:off x="6812280" y="1325880"/>
            <a:ext cx="192024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Edmonton</a:t>
            </a:r>
            <a:endParaRPr lang="en-US" sz="1300" dirty="0"/>
          </a:p>
        </p:txBody>
      </p:sp>
      <p:sp>
        <p:nvSpPr>
          <p:cNvPr id="24" name="Text 22"/>
          <p:cNvSpPr/>
          <p:nvPr/>
        </p:nvSpPr>
        <p:spPr>
          <a:xfrm>
            <a:off x="6812280" y="1783080"/>
            <a:ext cx="1920240" cy="822960"/>
          </a:xfrm>
          <a:prstGeom prst="rect">
            <a:avLst/>
          </a:prstGeom>
          <a:noFill/>
          <a:ln/>
        </p:spPr>
        <p:txBody>
          <a:bodyPr wrap="square" lIns="0" tIns="0" rIns="0" bIns="0" rtlCol="0" anchor="ctr"/>
          <a:lstStyle/>
          <a:p>
            <a:pPr algn="ctr" indent="0" marL="0">
              <a:buNone/>
            </a:pPr>
            <a:r>
              <a:rPr lang="en-US" sz="3400" b="1" dirty="0">
                <a:solidFill>
                  <a:srgbClr val="4DAB7E"/>
                </a:solidFill>
                <a:latin typeface="Georgia" pitchFamily="34" charset="0"/>
                <a:ea typeface="Georgia" pitchFamily="34" charset="-122"/>
                <a:cs typeface="Georgia" pitchFamily="34" charset="-120"/>
              </a:rPr>
              <a:t>+0.85pp</a:t>
            </a:r>
            <a:endParaRPr lang="en-US" sz="3400" dirty="0"/>
          </a:p>
        </p:txBody>
      </p:sp>
      <p:sp>
        <p:nvSpPr>
          <p:cNvPr id="25" name="Shape 23"/>
          <p:cNvSpPr/>
          <p:nvPr/>
        </p:nvSpPr>
        <p:spPr>
          <a:xfrm>
            <a:off x="6995160" y="2697480"/>
            <a:ext cx="1554480" cy="320040"/>
          </a:xfrm>
          <a:prstGeom prst="rect">
            <a:avLst/>
          </a:prstGeom>
          <a:solidFill>
            <a:srgbClr val="4DAB7E">
              <a:alpha val="20000"/>
            </a:srgbClr>
          </a:solidFill>
          <a:ln w="12700">
            <a:solidFill>
              <a:srgbClr val="4DAB7E">
                <a:alpha val="20000"/>
              </a:srgbClr>
            </a:solidFill>
            <a:prstDash val="solid"/>
          </a:ln>
        </p:spPr>
      </p:sp>
      <p:sp>
        <p:nvSpPr>
          <p:cNvPr id="26" name="Text 24"/>
          <p:cNvSpPr/>
          <p:nvPr/>
        </p:nvSpPr>
        <p:spPr>
          <a:xfrm>
            <a:off x="6995160" y="2724912"/>
            <a:ext cx="1554480" cy="256032"/>
          </a:xfrm>
          <a:prstGeom prst="rect">
            <a:avLst/>
          </a:prstGeom>
          <a:noFill/>
          <a:ln/>
        </p:spPr>
        <p:txBody>
          <a:bodyPr wrap="square" lIns="0" tIns="0" rIns="0" bIns="0" rtlCol="0" anchor="ctr"/>
          <a:lstStyle/>
          <a:p>
            <a:pPr algn="ctr" indent="0" marL="0">
              <a:buNone/>
            </a:pPr>
            <a:r>
              <a:rPr lang="en-US" sz="900" b="1" dirty="0">
                <a:solidFill>
                  <a:srgbClr val="4DAB7E"/>
                </a:solidFill>
                <a:latin typeface="Calibri" pitchFamily="34" charset="0"/>
                <a:ea typeface="Calibri" pitchFamily="34" charset="-122"/>
                <a:cs typeface="Calibri" pitchFamily="34" charset="-120"/>
              </a:rPr>
              <a:t>Not significant</a:t>
            </a:r>
            <a:endParaRPr lang="en-US" sz="900" dirty="0"/>
          </a:p>
        </p:txBody>
      </p:sp>
      <p:sp>
        <p:nvSpPr>
          <p:cNvPr id="27" name="Text 25"/>
          <p:cNvSpPr/>
          <p:nvPr/>
        </p:nvSpPr>
        <p:spPr>
          <a:xfrm>
            <a:off x="6812280" y="3154680"/>
            <a:ext cx="1920240" cy="731520"/>
          </a:xfrm>
          <a:prstGeom prst="rect">
            <a:avLst/>
          </a:prstGeom>
          <a:noFill/>
          <a:ln/>
        </p:spPr>
        <p:txBody>
          <a:bodyPr wrap="square" lIns="0" tIns="0" rIns="0" bIns="0" rtlCol="0" anchor="ctr"/>
          <a:lstStyle/>
          <a:p>
            <a:pPr algn="ctr" indent="0" marL="0">
              <a:lnSpc>
                <a:spcPct val="140000"/>
              </a:lnSpc>
              <a:buNone/>
            </a:pPr>
            <a:r>
              <a:rPr lang="en-US" sz="1000" dirty="0">
                <a:solidFill>
                  <a:srgbClr val="7A7870"/>
                </a:solidFill>
                <a:latin typeface="Calibri" pitchFamily="34" charset="0"/>
                <a:ea typeface="Calibri" pitchFamily="34" charset="-122"/>
                <a:cs typeface="Calibri" pitchFamily="34" charset="-120"/>
              </a:rPr>
              <a:t>Penalty disappears</a:t>
            </a:r>
            <a:endParaRPr lang="en-US" sz="1000" dirty="0"/>
          </a:p>
          <a:p>
            <a:pPr algn="ctr" indent="0" marL="0">
              <a:lnSpc>
                <a:spcPct val="140000"/>
              </a:lnSpc>
              <a:buNone/>
            </a:pPr>
            <a:r>
              <a:rPr lang="en-US" sz="1000" dirty="0">
                <a:solidFill>
                  <a:srgbClr val="7A7870"/>
                </a:solidFill>
                <a:latin typeface="Calibri" pitchFamily="34" charset="0"/>
                <a:ea typeface="Calibri" pitchFamily="34" charset="-122"/>
                <a:cs typeface="Calibri" pitchFamily="34" charset="-120"/>
              </a:rPr>
              <a:t>once income controlled</a:t>
            </a:r>
            <a:endParaRPr lang="en-US" sz="1000" dirty="0"/>
          </a:p>
        </p:txBody>
      </p:sp>
      <p:sp>
        <p:nvSpPr>
          <p:cNvPr id="28" name="Text 26"/>
          <p:cNvSpPr/>
          <p:nvPr/>
        </p:nvSpPr>
        <p:spPr>
          <a:xfrm>
            <a:off x="365760" y="4754880"/>
            <a:ext cx="8412480" cy="228600"/>
          </a:xfrm>
          <a:prstGeom prst="rect">
            <a:avLst/>
          </a:prstGeom>
          <a:noFill/>
          <a:ln/>
        </p:spPr>
        <p:txBody>
          <a:bodyPr wrap="square" lIns="0" tIns="0" rIns="0" bIns="0" rtlCol="0" anchor="ctr"/>
          <a:lstStyle/>
          <a:p>
            <a:pPr indent="0" marL="0">
              <a:buNone/>
            </a:pPr>
            <a:r>
              <a:rPr lang="en-US" sz="1000" b="1" dirty="0">
                <a:solidFill>
                  <a:srgbClr val="E8834A"/>
                </a:solidFill>
                <a:latin typeface="Calibri" pitchFamily="34" charset="0"/>
                <a:ea typeface="Calibri" pitchFamily="34" charset="-122"/>
                <a:cs typeface="Calibri" pitchFamily="34" charset="-120"/>
              </a:rPr>
              <a:t>The immigrant housing penalty is a Toronto and Vancouver problem, not a national one.</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6F2"/>
        </a:solidFill>
      </p:bgPr>
    </p:bg>
    <p:spTree>
      <p:nvGrpSpPr>
        <p:cNvPr id="1" name=""/>
        <p:cNvGrpSpPr/>
        <p:nvPr/>
      </p:nvGrpSpPr>
      <p:grpSpPr>
        <a:xfrm>
          <a:off x="0" y="0"/>
          <a:ext cx="0" cy="0"/>
          <a:chOff x="0" y="0"/>
          <a:chExt cx="0" cy="0"/>
        </a:xfrm>
      </p:grpSpPr>
      <p:sp>
        <p:nvSpPr>
          <p:cNvPr id="2" name="Text 0"/>
          <p:cNvSpPr/>
          <p:nvPr/>
        </p:nvSpPr>
        <p:spPr>
          <a:xfrm>
            <a:off x="457200" y="274320"/>
            <a:ext cx="8229600" cy="548640"/>
          </a:xfrm>
          <a:prstGeom prst="rect">
            <a:avLst/>
          </a:prstGeom>
          <a:noFill/>
          <a:ln/>
        </p:spPr>
        <p:txBody>
          <a:bodyPr wrap="square" lIns="0" tIns="0" rIns="0" bIns="0" rtlCol="0" anchor="ctr"/>
          <a:lstStyle/>
          <a:p>
            <a:pPr indent="0" marL="0">
              <a:buNone/>
            </a:pPr>
            <a:r>
              <a:rPr lang="en-US" sz="3000" b="1" dirty="0">
                <a:solidFill>
                  <a:srgbClr val="1A1A1A"/>
                </a:solidFill>
                <a:latin typeface="Georgia" pitchFamily="34" charset="0"/>
                <a:ea typeface="Georgia" pitchFamily="34" charset="-122"/>
                <a:cs typeface="Georgia" pitchFamily="34" charset="-120"/>
              </a:rPr>
              <a:t>The Immigrant Housing Stress Index</a:t>
            </a:r>
            <a:endParaRPr lang="en-US" sz="3000" dirty="0"/>
          </a:p>
        </p:txBody>
      </p:sp>
      <p:sp>
        <p:nvSpPr>
          <p:cNvPr id="3" name="Text 1"/>
          <p:cNvSpPr/>
          <p:nvPr/>
        </p:nvSpPr>
        <p:spPr>
          <a:xfrm>
            <a:off x="457200" y="822960"/>
            <a:ext cx="8229600" cy="274320"/>
          </a:xfrm>
          <a:prstGeom prst="rect">
            <a:avLst/>
          </a:prstGeom>
          <a:noFill/>
          <a:ln/>
        </p:spPr>
        <p:txBody>
          <a:bodyPr wrap="square" lIns="0" tIns="0" rIns="0" bIns="0" rtlCol="0" anchor="ctr"/>
          <a:lstStyle/>
          <a:p>
            <a:pPr indent="0" marL="0">
              <a:buNone/>
            </a:pPr>
            <a:r>
              <a:rPr lang="en-US" sz="1300" dirty="0">
                <a:solidFill>
                  <a:srgbClr val="7A7870"/>
                </a:solidFill>
                <a:latin typeface="Calibri" pitchFamily="34" charset="0"/>
                <a:ea typeface="Calibri" pitchFamily="34" charset="-122"/>
                <a:cs typeface="Calibri" pitchFamily="34" charset="-120"/>
              </a:rPr>
              <a:t>An original composite index combining three dimensions of immigrant housing burden</a:t>
            </a:r>
            <a:endParaRPr lang="en-US" sz="1300" dirty="0"/>
          </a:p>
        </p:txBody>
      </p:sp>
      <p:sp>
        <p:nvSpPr>
          <p:cNvPr id="4" name="Shape 2"/>
          <p:cNvSpPr/>
          <p:nvPr/>
        </p:nvSpPr>
        <p:spPr>
          <a:xfrm>
            <a:off x="457200" y="1188720"/>
            <a:ext cx="8229600" cy="685800"/>
          </a:xfrm>
          <a:prstGeom prst="rect">
            <a:avLst/>
          </a:prstGeom>
          <a:solidFill>
            <a:srgbClr val="0F1117"/>
          </a:solidFill>
          <a:ln w="12700">
            <a:solidFill>
              <a:srgbClr val="0F1117"/>
            </a:solidFill>
            <a:prstDash val="solid"/>
          </a:ln>
        </p:spPr>
      </p:sp>
      <p:sp>
        <p:nvSpPr>
          <p:cNvPr id="5" name="Text 3"/>
          <p:cNvSpPr/>
          <p:nvPr/>
        </p:nvSpPr>
        <p:spPr>
          <a:xfrm>
            <a:off x="457200" y="1298448"/>
            <a:ext cx="8229600" cy="411480"/>
          </a:xfrm>
          <a:prstGeom prst="rect">
            <a:avLst/>
          </a:prstGeom>
          <a:noFill/>
          <a:ln/>
        </p:spPr>
        <p:txBody>
          <a:bodyPr wrap="square" lIns="0" tIns="0" rIns="0" bIns="0" rtlCol="0" anchor="ctr"/>
          <a:lstStyle/>
          <a:p>
            <a:pPr algn="ctr" indent="0" marL="0">
              <a:buNone/>
            </a:pPr>
            <a:r>
              <a:rPr lang="en-US" sz="1200" b="1" dirty="0">
                <a:solidFill>
                  <a:srgbClr val="E8834A"/>
                </a:solidFill>
                <a:latin typeface="Calibri" pitchFamily="34" charset="0"/>
                <a:ea typeface="Calibri" pitchFamily="34" charset="-122"/>
                <a:cs typeface="Calibri" pitchFamily="34" charset="-120"/>
              </a:rPr>
              <a:t>IHSI  =  Proximity to 30% threshold (40%)  +  Income gap vs non-immigrants (30%)  +  Regression residual (30%)</a:t>
            </a:r>
            <a:endParaRPr lang="en-US" sz="1200" dirty="0"/>
          </a:p>
        </p:txBody>
      </p:sp>
      <p:sp>
        <p:nvSpPr>
          <p:cNvPr id="6" name="Shape 4"/>
          <p:cNvSpPr/>
          <p:nvPr/>
        </p:nvSpPr>
        <p:spPr>
          <a:xfrm>
            <a:off x="457200" y="2057400"/>
            <a:ext cx="1920240" cy="2651760"/>
          </a:xfrm>
          <a:prstGeom prst="rect">
            <a:avLst/>
          </a:prstGeom>
          <a:solidFill>
            <a:srgbClr val="FFFFFF"/>
          </a:solidFill>
          <a:ln w="6350">
            <a:solidFill>
              <a:srgbClr val="E8E6E0"/>
            </a:solidFill>
            <a:prstDash val="solid"/>
          </a:ln>
          <a:effectLst>
            <a:outerShdw sx="100000" sy="100000" kx="0" ky="0" algn="bl" rotWithShape="0" blurRad="76200" dist="25400" dir="8100000">
              <a:srgbClr val="000000">
                <a:alpha val="8000"/>
              </a:srgbClr>
            </a:outerShdw>
          </a:effectLst>
        </p:spPr>
      </p:sp>
      <p:sp>
        <p:nvSpPr>
          <p:cNvPr id="7" name="Shape 5"/>
          <p:cNvSpPr/>
          <p:nvPr/>
        </p:nvSpPr>
        <p:spPr>
          <a:xfrm>
            <a:off x="457200" y="2057400"/>
            <a:ext cx="1920240" cy="64008"/>
          </a:xfrm>
          <a:prstGeom prst="rect">
            <a:avLst/>
          </a:prstGeom>
          <a:solidFill>
            <a:srgbClr val="E8834A"/>
          </a:solidFill>
          <a:ln w="12700">
            <a:solidFill>
              <a:srgbClr val="E8834A"/>
            </a:solidFill>
            <a:prstDash val="solid"/>
          </a:ln>
        </p:spPr>
      </p:sp>
      <p:sp>
        <p:nvSpPr>
          <p:cNvPr id="8" name="Text 6"/>
          <p:cNvSpPr/>
          <p:nvPr/>
        </p:nvSpPr>
        <p:spPr>
          <a:xfrm>
            <a:off x="548640" y="2176272"/>
            <a:ext cx="1737360" cy="457200"/>
          </a:xfrm>
          <a:prstGeom prst="rect">
            <a:avLst/>
          </a:prstGeom>
          <a:noFill/>
          <a:ln/>
        </p:spPr>
        <p:txBody>
          <a:bodyPr wrap="square" lIns="0" tIns="0" rIns="0" bIns="0" rtlCol="0" anchor="ctr"/>
          <a:lstStyle/>
          <a:p>
            <a:pPr indent="0" marL="0">
              <a:lnSpc>
                <a:spcPct val="130000"/>
              </a:lnSpc>
              <a:buNone/>
            </a:pPr>
            <a:r>
              <a:rPr lang="en-US" sz="1100" b="1" dirty="0">
                <a:solidFill>
                  <a:srgbClr val="E8834A"/>
                </a:solidFill>
                <a:latin typeface="Calibri" pitchFamily="34" charset="0"/>
                <a:ea typeface="Calibri" pitchFamily="34" charset="-122"/>
                <a:cs typeface="Calibri" pitchFamily="34" charset="-120"/>
              </a:rPr>
              <a:t>Invisible Tax Hotspot</a:t>
            </a:r>
            <a:endParaRPr lang="en-US" sz="1100" dirty="0"/>
          </a:p>
        </p:txBody>
      </p:sp>
      <p:sp>
        <p:nvSpPr>
          <p:cNvPr id="9" name="Text 7"/>
          <p:cNvSpPr/>
          <p:nvPr/>
        </p:nvSpPr>
        <p:spPr>
          <a:xfrm>
            <a:off x="548640" y="2670048"/>
            <a:ext cx="1737360" cy="274320"/>
          </a:xfrm>
          <a:prstGeom prst="rect">
            <a:avLst/>
          </a:prstGeom>
          <a:noFill/>
          <a:ln/>
        </p:spPr>
        <p:txBody>
          <a:bodyPr wrap="square" lIns="0" tIns="0" rIns="0" bIns="0" rtlCol="0" anchor="ctr"/>
          <a:lstStyle/>
          <a:p>
            <a:pPr indent="0" marL="0">
              <a:buNone/>
            </a:pPr>
            <a:r>
              <a:rPr lang="en-US" sz="1100" b="1" dirty="0">
                <a:solidFill>
                  <a:srgbClr val="1A1A1A"/>
                </a:solidFill>
                <a:latin typeface="Calibri" pitchFamily="34" charset="0"/>
                <a:ea typeface="Calibri" pitchFamily="34" charset="-122"/>
                <a:cs typeface="Calibri" pitchFamily="34" charset="-120"/>
              </a:rPr>
              <a:t>Avg IHSI: 52</a:t>
            </a:r>
            <a:endParaRPr lang="en-US" sz="1100" dirty="0"/>
          </a:p>
        </p:txBody>
      </p:sp>
      <p:sp>
        <p:nvSpPr>
          <p:cNvPr id="10" name="Text 8"/>
          <p:cNvSpPr/>
          <p:nvPr/>
        </p:nvSpPr>
        <p:spPr>
          <a:xfrm>
            <a:off x="548640" y="2999232"/>
            <a:ext cx="1737360" cy="1463040"/>
          </a:xfrm>
          <a:prstGeom prst="rect">
            <a:avLst/>
          </a:prstGeom>
          <a:noFill/>
          <a:ln/>
        </p:spPr>
        <p:txBody>
          <a:bodyPr wrap="square" lIns="0" tIns="0" rIns="0" bIns="0" rtlCol="0" anchor="ctr"/>
          <a:lstStyle/>
          <a:p>
            <a:pPr indent="0" marL="0">
              <a:lnSpc>
                <a:spcPct val="145000"/>
              </a:lnSpc>
              <a:buNone/>
            </a:pPr>
            <a:r>
              <a:rPr lang="en-US" sz="1000" dirty="0">
                <a:solidFill>
                  <a:srgbClr val="555555"/>
                </a:solidFill>
                <a:latin typeface="Calibri" pitchFamily="34" charset="0"/>
                <a:ea typeface="Calibri" pitchFamily="34" charset="-122"/>
                <a:cs typeface="Calibri" pitchFamily="34" charset="-120"/>
              </a:rPr>
              <a:t>High income, high STIR. Toronto &amp; Vancouver suburbs. Income doesn't explain the burden.</a:t>
            </a:r>
            <a:endParaRPr lang="en-US" sz="1000" dirty="0"/>
          </a:p>
        </p:txBody>
      </p:sp>
      <p:sp>
        <p:nvSpPr>
          <p:cNvPr id="11" name="Shape 9"/>
          <p:cNvSpPr/>
          <p:nvPr/>
        </p:nvSpPr>
        <p:spPr>
          <a:xfrm>
            <a:off x="2606040" y="2057400"/>
            <a:ext cx="1920240" cy="2651760"/>
          </a:xfrm>
          <a:prstGeom prst="rect">
            <a:avLst/>
          </a:prstGeom>
          <a:solidFill>
            <a:srgbClr val="FFFFFF"/>
          </a:solidFill>
          <a:ln w="6350">
            <a:solidFill>
              <a:srgbClr val="E8E6E0"/>
            </a:solidFill>
            <a:prstDash val="solid"/>
          </a:ln>
          <a:effectLst>
            <a:outerShdw sx="100000" sy="100000" kx="0" ky="0" algn="bl" rotWithShape="0" blurRad="76200" dist="25400" dir="8100000">
              <a:srgbClr val="000000">
                <a:alpha val="8000"/>
              </a:srgbClr>
            </a:outerShdw>
          </a:effectLst>
        </p:spPr>
      </p:sp>
      <p:sp>
        <p:nvSpPr>
          <p:cNvPr id="12" name="Shape 10"/>
          <p:cNvSpPr/>
          <p:nvPr/>
        </p:nvSpPr>
        <p:spPr>
          <a:xfrm>
            <a:off x="2606040" y="2057400"/>
            <a:ext cx="1920240" cy="64008"/>
          </a:xfrm>
          <a:prstGeom prst="rect">
            <a:avLst/>
          </a:prstGeom>
          <a:solidFill>
            <a:srgbClr val="4DAB7E"/>
          </a:solidFill>
          <a:ln w="12700">
            <a:solidFill>
              <a:srgbClr val="4DAB7E"/>
            </a:solidFill>
            <a:prstDash val="solid"/>
          </a:ln>
        </p:spPr>
      </p:sp>
      <p:sp>
        <p:nvSpPr>
          <p:cNvPr id="13" name="Text 11"/>
          <p:cNvSpPr/>
          <p:nvPr/>
        </p:nvSpPr>
        <p:spPr>
          <a:xfrm>
            <a:off x="2697480" y="2176272"/>
            <a:ext cx="1737360" cy="457200"/>
          </a:xfrm>
          <a:prstGeom prst="rect">
            <a:avLst/>
          </a:prstGeom>
          <a:noFill/>
          <a:ln/>
        </p:spPr>
        <p:txBody>
          <a:bodyPr wrap="square" lIns="0" tIns="0" rIns="0" bIns="0" rtlCol="0" anchor="ctr"/>
          <a:lstStyle/>
          <a:p>
            <a:pPr indent="0" marL="0">
              <a:lnSpc>
                <a:spcPct val="130000"/>
              </a:lnSpc>
              <a:buNone/>
            </a:pPr>
            <a:r>
              <a:rPr lang="en-US" sz="1100" b="1" dirty="0">
                <a:solidFill>
                  <a:srgbClr val="4DAB7E"/>
                </a:solidFill>
                <a:latin typeface="Calibri" pitchFamily="34" charset="0"/>
                <a:ea typeface="Calibri" pitchFamily="34" charset="-122"/>
                <a:cs typeface="Calibri" pitchFamily="34" charset="-120"/>
              </a:rPr>
              <a:t>Affordable Majority</a:t>
            </a:r>
            <a:endParaRPr lang="en-US" sz="1100" dirty="0"/>
          </a:p>
        </p:txBody>
      </p:sp>
      <p:sp>
        <p:nvSpPr>
          <p:cNvPr id="14" name="Text 12"/>
          <p:cNvSpPr/>
          <p:nvPr/>
        </p:nvSpPr>
        <p:spPr>
          <a:xfrm>
            <a:off x="2697480" y="2670048"/>
            <a:ext cx="1737360" cy="274320"/>
          </a:xfrm>
          <a:prstGeom prst="rect">
            <a:avLst/>
          </a:prstGeom>
          <a:noFill/>
          <a:ln/>
        </p:spPr>
        <p:txBody>
          <a:bodyPr wrap="square" lIns="0" tIns="0" rIns="0" bIns="0" rtlCol="0" anchor="ctr"/>
          <a:lstStyle/>
          <a:p>
            <a:pPr indent="0" marL="0">
              <a:buNone/>
            </a:pPr>
            <a:r>
              <a:rPr lang="en-US" sz="1100" b="1" dirty="0">
                <a:solidFill>
                  <a:srgbClr val="1A1A1A"/>
                </a:solidFill>
                <a:latin typeface="Calibri" pitchFamily="34" charset="0"/>
                <a:ea typeface="Calibri" pitchFamily="34" charset="-122"/>
                <a:cs typeface="Calibri" pitchFamily="34" charset="-120"/>
              </a:rPr>
              <a:t>Avg IHSI: 22</a:t>
            </a:r>
            <a:endParaRPr lang="en-US" sz="1100" dirty="0"/>
          </a:p>
        </p:txBody>
      </p:sp>
      <p:sp>
        <p:nvSpPr>
          <p:cNvPr id="15" name="Text 13"/>
          <p:cNvSpPr/>
          <p:nvPr/>
        </p:nvSpPr>
        <p:spPr>
          <a:xfrm>
            <a:off x="2697480" y="2999232"/>
            <a:ext cx="1737360" cy="1463040"/>
          </a:xfrm>
          <a:prstGeom prst="rect">
            <a:avLst/>
          </a:prstGeom>
          <a:noFill/>
          <a:ln/>
        </p:spPr>
        <p:txBody>
          <a:bodyPr wrap="square" lIns="0" tIns="0" rIns="0" bIns="0" rtlCol="0" anchor="ctr"/>
          <a:lstStyle/>
          <a:p>
            <a:pPr indent="0" marL="0">
              <a:lnSpc>
                <a:spcPct val="145000"/>
              </a:lnSpc>
              <a:buNone/>
            </a:pPr>
            <a:r>
              <a:rPr lang="en-US" sz="1000" dirty="0">
                <a:solidFill>
                  <a:srgbClr val="555555"/>
                </a:solidFill>
                <a:latin typeface="Calibri" pitchFamily="34" charset="0"/>
                <a:ea typeface="Calibri" pitchFamily="34" charset="-122"/>
                <a:cs typeface="Calibri" pitchFamily="34" charset="-120"/>
              </a:rPr>
              <a:t>Balanced markets. Montreal &amp; Edmonton. The benchmark for what good looks like.</a:t>
            </a:r>
            <a:endParaRPr lang="en-US" sz="1000" dirty="0"/>
          </a:p>
        </p:txBody>
      </p:sp>
      <p:sp>
        <p:nvSpPr>
          <p:cNvPr id="16" name="Shape 14"/>
          <p:cNvSpPr/>
          <p:nvPr/>
        </p:nvSpPr>
        <p:spPr>
          <a:xfrm>
            <a:off x="4754880" y="2057400"/>
            <a:ext cx="1920240" cy="2651760"/>
          </a:xfrm>
          <a:prstGeom prst="rect">
            <a:avLst/>
          </a:prstGeom>
          <a:solidFill>
            <a:srgbClr val="FFFFFF"/>
          </a:solidFill>
          <a:ln w="6350">
            <a:solidFill>
              <a:srgbClr val="E8E6E0"/>
            </a:solidFill>
            <a:prstDash val="solid"/>
          </a:ln>
          <a:effectLst>
            <a:outerShdw sx="100000" sy="100000" kx="0" ky="0" algn="bl" rotWithShape="0" blurRad="76200" dist="25400" dir="8100000">
              <a:srgbClr val="000000">
                <a:alpha val="8000"/>
              </a:srgbClr>
            </a:outerShdw>
          </a:effectLst>
        </p:spPr>
      </p:sp>
      <p:sp>
        <p:nvSpPr>
          <p:cNvPr id="17" name="Shape 15"/>
          <p:cNvSpPr/>
          <p:nvPr/>
        </p:nvSpPr>
        <p:spPr>
          <a:xfrm>
            <a:off x="4754880" y="2057400"/>
            <a:ext cx="1920240" cy="64008"/>
          </a:xfrm>
          <a:prstGeom prst="rect">
            <a:avLst/>
          </a:prstGeom>
          <a:solidFill>
            <a:srgbClr val="8E75C9"/>
          </a:solidFill>
          <a:ln w="12700">
            <a:solidFill>
              <a:srgbClr val="8E75C9"/>
            </a:solidFill>
            <a:prstDash val="solid"/>
          </a:ln>
        </p:spPr>
      </p:sp>
      <p:sp>
        <p:nvSpPr>
          <p:cNvPr id="18" name="Text 16"/>
          <p:cNvSpPr/>
          <p:nvPr/>
        </p:nvSpPr>
        <p:spPr>
          <a:xfrm>
            <a:off x="4846320" y="2176272"/>
            <a:ext cx="1737360" cy="457200"/>
          </a:xfrm>
          <a:prstGeom prst="rect">
            <a:avLst/>
          </a:prstGeom>
          <a:noFill/>
          <a:ln/>
        </p:spPr>
        <p:txBody>
          <a:bodyPr wrap="square" lIns="0" tIns="0" rIns="0" bIns="0" rtlCol="0" anchor="ctr"/>
          <a:lstStyle/>
          <a:p>
            <a:pPr indent="0" marL="0">
              <a:lnSpc>
                <a:spcPct val="130000"/>
              </a:lnSpc>
              <a:buNone/>
            </a:pPr>
            <a:r>
              <a:rPr lang="en-US" sz="1100" b="1" dirty="0">
                <a:solidFill>
                  <a:srgbClr val="8E75C9"/>
                </a:solidFill>
                <a:latin typeface="Calibri" pitchFamily="34" charset="0"/>
                <a:ea typeface="Calibri" pitchFamily="34" charset="-122"/>
                <a:cs typeface="Calibri" pitchFamily="34" charset="-120"/>
              </a:rPr>
              <a:t>Renter Trap</a:t>
            </a:r>
            <a:endParaRPr lang="en-US" sz="1100" dirty="0"/>
          </a:p>
        </p:txBody>
      </p:sp>
      <p:sp>
        <p:nvSpPr>
          <p:cNvPr id="19" name="Text 17"/>
          <p:cNvSpPr/>
          <p:nvPr/>
        </p:nvSpPr>
        <p:spPr>
          <a:xfrm>
            <a:off x="4846320" y="2670048"/>
            <a:ext cx="1737360" cy="274320"/>
          </a:xfrm>
          <a:prstGeom prst="rect">
            <a:avLst/>
          </a:prstGeom>
          <a:noFill/>
          <a:ln/>
        </p:spPr>
        <p:txBody>
          <a:bodyPr wrap="square" lIns="0" tIns="0" rIns="0" bIns="0" rtlCol="0" anchor="ctr"/>
          <a:lstStyle/>
          <a:p>
            <a:pPr indent="0" marL="0">
              <a:buNone/>
            </a:pPr>
            <a:r>
              <a:rPr lang="en-US" sz="1100" b="1" dirty="0">
                <a:solidFill>
                  <a:srgbClr val="1A1A1A"/>
                </a:solidFill>
                <a:latin typeface="Calibri" pitchFamily="34" charset="0"/>
                <a:ea typeface="Calibri" pitchFamily="34" charset="-122"/>
                <a:cs typeface="Calibri" pitchFamily="34" charset="-120"/>
              </a:rPr>
              <a:t>Avg IHSI: 38</a:t>
            </a:r>
            <a:endParaRPr lang="en-US" sz="1100" dirty="0"/>
          </a:p>
        </p:txBody>
      </p:sp>
      <p:sp>
        <p:nvSpPr>
          <p:cNvPr id="20" name="Text 18"/>
          <p:cNvSpPr/>
          <p:nvPr/>
        </p:nvSpPr>
        <p:spPr>
          <a:xfrm>
            <a:off x="4846320" y="2999232"/>
            <a:ext cx="1737360" cy="1463040"/>
          </a:xfrm>
          <a:prstGeom prst="rect">
            <a:avLst/>
          </a:prstGeom>
          <a:noFill/>
          <a:ln/>
        </p:spPr>
        <p:txBody>
          <a:bodyPr wrap="square" lIns="0" tIns="0" rIns="0" bIns="0" rtlCol="0" anchor="ctr"/>
          <a:lstStyle/>
          <a:p>
            <a:pPr indent="0" marL="0">
              <a:lnSpc>
                <a:spcPct val="145000"/>
              </a:lnSpc>
              <a:buNone/>
            </a:pPr>
            <a:r>
              <a:rPr lang="en-US" sz="1000" dirty="0">
                <a:solidFill>
                  <a:srgbClr val="555555"/>
                </a:solidFill>
                <a:latin typeface="Calibri" pitchFamily="34" charset="0"/>
                <a:ea typeface="Calibri" pitchFamily="34" charset="-122"/>
                <a:cs typeface="Calibri" pitchFamily="34" charset="-120"/>
              </a:rPr>
              <a:t>Average STIR looks fine. Renter STIR is catastrophic. Hidden by aggregate data.</a:t>
            </a:r>
            <a:endParaRPr lang="en-US" sz="1000" dirty="0"/>
          </a:p>
        </p:txBody>
      </p:sp>
      <p:sp>
        <p:nvSpPr>
          <p:cNvPr id="21" name="Shape 19"/>
          <p:cNvSpPr/>
          <p:nvPr/>
        </p:nvSpPr>
        <p:spPr>
          <a:xfrm>
            <a:off x="6903720" y="2057400"/>
            <a:ext cx="1920240" cy="2651760"/>
          </a:xfrm>
          <a:prstGeom prst="rect">
            <a:avLst/>
          </a:prstGeom>
          <a:solidFill>
            <a:srgbClr val="FFFFFF"/>
          </a:solidFill>
          <a:ln w="6350">
            <a:solidFill>
              <a:srgbClr val="E8E6E0"/>
            </a:solidFill>
            <a:prstDash val="solid"/>
          </a:ln>
          <a:effectLst>
            <a:outerShdw sx="100000" sy="100000" kx="0" ky="0" algn="bl" rotWithShape="0" blurRad="76200" dist="25400" dir="8100000">
              <a:srgbClr val="000000">
                <a:alpha val="8000"/>
              </a:srgbClr>
            </a:outerShdw>
          </a:effectLst>
        </p:spPr>
      </p:sp>
      <p:sp>
        <p:nvSpPr>
          <p:cNvPr id="22" name="Shape 20"/>
          <p:cNvSpPr/>
          <p:nvPr/>
        </p:nvSpPr>
        <p:spPr>
          <a:xfrm>
            <a:off x="6903720" y="2057400"/>
            <a:ext cx="1920240" cy="64008"/>
          </a:xfrm>
          <a:prstGeom prst="rect">
            <a:avLst/>
          </a:prstGeom>
          <a:solidFill>
            <a:srgbClr val="5B9BD5"/>
          </a:solidFill>
          <a:ln w="12700">
            <a:solidFill>
              <a:srgbClr val="5B9BD5"/>
            </a:solidFill>
            <a:prstDash val="solid"/>
          </a:ln>
        </p:spPr>
      </p:sp>
      <p:sp>
        <p:nvSpPr>
          <p:cNvPr id="23" name="Text 21"/>
          <p:cNvSpPr/>
          <p:nvPr/>
        </p:nvSpPr>
        <p:spPr>
          <a:xfrm>
            <a:off x="6995160" y="2176272"/>
            <a:ext cx="1737360" cy="457200"/>
          </a:xfrm>
          <a:prstGeom prst="rect">
            <a:avLst/>
          </a:prstGeom>
          <a:noFill/>
          <a:ln/>
        </p:spPr>
        <p:txBody>
          <a:bodyPr wrap="square" lIns="0" tIns="0" rIns="0" bIns="0" rtlCol="0" anchor="ctr"/>
          <a:lstStyle/>
          <a:p>
            <a:pPr indent="0" marL="0">
              <a:lnSpc>
                <a:spcPct val="130000"/>
              </a:lnSpc>
              <a:buNone/>
            </a:pPr>
            <a:r>
              <a:rPr lang="en-US" sz="1100" b="1" dirty="0">
                <a:solidFill>
                  <a:srgbClr val="5B9BD5"/>
                </a:solidFill>
                <a:latin typeface="Calibri" pitchFamily="34" charset="0"/>
                <a:ea typeface="Calibri" pitchFamily="34" charset="-122"/>
                <a:cs typeface="Calibri" pitchFamily="34" charset="-120"/>
              </a:rPr>
              <a:t>Ultra-Wealthy Exception</a:t>
            </a:r>
            <a:endParaRPr lang="en-US" sz="1100" dirty="0"/>
          </a:p>
        </p:txBody>
      </p:sp>
      <p:sp>
        <p:nvSpPr>
          <p:cNvPr id="24" name="Text 22"/>
          <p:cNvSpPr/>
          <p:nvPr/>
        </p:nvSpPr>
        <p:spPr>
          <a:xfrm>
            <a:off x="6995160" y="2670048"/>
            <a:ext cx="1737360" cy="274320"/>
          </a:xfrm>
          <a:prstGeom prst="rect">
            <a:avLst/>
          </a:prstGeom>
          <a:noFill/>
          <a:ln/>
        </p:spPr>
        <p:txBody>
          <a:bodyPr wrap="square" lIns="0" tIns="0" rIns="0" bIns="0" rtlCol="0" anchor="ctr"/>
          <a:lstStyle/>
          <a:p>
            <a:pPr indent="0" marL="0">
              <a:buNone/>
            </a:pPr>
            <a:r>
              <a:rPr lang="en-US" sz="1100" b="1" dirty="0">
                <a:solidFill>
                  <a:srgbClr val="1A1A1A"/>
                </a:solidFill>
                <a:latin typeface="Calibri" pitchFamily="34" charset="0"/>
                <a:ea typeface="Calibri" pitchFamily="34" charset="-122"/>
                <a:cs typeface="Calibri" pitchFamily="34" charset="-120"/>
              </a:rPr>
              <a:t>Avg IHSI: 32</a:t>
            </a:r>
            <a:endParaRPr lang="en-US" sz="1100" dirty="0"/>
          </a:p>
        </p:txBody>
      </p:sp>
      <p:sp>
        <p:nvSpPr>
          <p:cNvPr id="25" name="Text 23"/>
          <p:cNvSpPr/>
          <p:nvPr/>
        </p:nvSpPr>
        <p:spPr>
          <a:xfrm>
            <a:off x="6995160" y="2999232"/>
            <a:ext cx="1737360" cy="1463040"/>
          </a:xfrm>
          <a:prstGeom prst="rect">
            <a:avLst/>
          </a:prstGeom>
          <a:noFill/>
          <a:ln/>
        </p:spPr>
        <p:txBody>
          <a:bodyPr wrap="square" lIns="0" tIns="0" rIns="0" bIns="0" rtlCol="0" anchor="ctr"/>
          <a:lstStyle/>
          <a:p>
            <a:pPr indent="0" marL="0">
              <a:lnSpc>
                <a:spcPct val="145000"/>
              </a:lnSpc>
              <a:buNone/>
            </a:pPr>
            <a:r>
              <a:rPr lang="en-US" sz="1000" dirty="0">
                <a:solidFill>
                  <a:srgbClr val="555555"/>
                </a:solidFill>
                <a:latin typeface="Calibri" pitchFamily="34" charset="0"/>
                <a:ea typeface="Calibri" pitchFamily="34" charset="-122"/>
                <a:cs typeface="Calibri" pitchFamily="34" charset="-120"/>
              </a:rPr>
              <a:t>Very high income enclaves. Small sample. Low policy priority.</a:t>
            </a:r>
            <a:endParaRPr lang="en-US" sz="1000" dirty="0"/>
          </a:p>
        </p:txBody>
      </p:sp>
      <p:sp>
        <p:nvSpPr>
          <p:cNvPr id="26" name="Text 24"/>
          <p:cNvSpPr/>
          <p:nvPr/>
        </p:nvSpPr>
        <p:spPr>
          <a:xfrm>
            <a:off x="457200" y="4754880"/>
            <a:ext cx="8412480" cy="228600"/>
          </a:xfrm>
          <a:prstGeom prst="rect">
            <a:avLst/>
          </a:prstGeom>
          <a:noFill/>
          <a:ln/>
        </p:spPr>
        <p:txBody>
          <a:bodyPr wrap="square" lIns="0" tIns="0" rIns="0" bIns="0" rtlCol="0" anchor="ctr"/>
          <a:lstStyle/>
          <a:p>
            <a:pPr indent="0" marL="0">
              <a:buNone/>
            </a:pPr>
            <a:r>
              <a:rPr lang="en-US" sz="900" dirty="0">
                <a:solidFill>
                  <a:srgbClr val="7A7870"/>
                </a:solidFill>
                <a:latin typeface="Calibri" pitchFamily="34" charset="0"/>
                <a:ea typeface="Calibri" pitchFamily="34" charset="-122"/>
                <a:cs typeface="Calibri" pitchFamily="34" charset="-120"/>
              </a:rPr>
              <a:t>West Vancouver scores 89/100 — highest immigrant housing stress of any neighbourhood across all four cities.</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F1117"/>
        </a:solidFill>
      </p:bgPr>
    </p:bg>
    <p:spTree>
      <p:nvGrpSpPr>
        <p:cNvPr id="1" name=""/>
        <p:cNvGrpSpPr/>
        <p:nvPr/>
      </p:nvGrpSpPr>
      <p:grpSpPr>
        <a:xfrm>
          <a:off x="0" y="0"/>
          <a:ext cx="0" cy="0"/>
          <a:chOff x="0" y="0"/>
          <a:chExt cx="0" cy="0"/>
        </a:xfrm>
      </p:grpSpPr>
      <p:sp>
        <p:nvSpPr>
          <p:cNvPr id="2" name="Text 0"/>
          <p:cNvSpPr/>
          <p:nvPr/>
        </p:nvSpPr>
        <p:spPr>
          <a:xfrm>
            <a:off x="457200" y="228600"/>
            <a:ext cx="8229600" cy="502920"/>
          </a:xfrm>
          <a:prstGeom prst="rect">
            <a:avLst/>
          </a:prstGeom>
          <a:noFill/>
          <a:ln/>
        </p:spPr>
        <p:txBody>
          <a:bodyPr wrap="square" lIns="0" tIns="0" rIns="0" bIns="0" rtlCol="0" anchor="ctr"/>
          <a:lstStyle/>
          <a:p>
            <a:pPr indent="0" marL="0">
              <a:buNone/>
            </a:pPr>
            <a:r>
              <a:rPr lang="en-US" sz="3000" b="1" dirty="0">
                <a:solidFill>
                  <a:srgbClr val="FFFFFF"/>
                </a:solidFill>
                <a:latin typeface="Georgia" pitchFamily="34" charset="0"/>
                <a:ea typeface="Georgia" pitchFamily="34" charset="-122"/>
                <a:cs typeface="Georgia" pitchFamily="34" charset="-120"/>
              </a:rPr>
              <a:t>Three Targeted Recommendations</a:t>
            </a:r>
            <a:endParaRPr lang="en-US" sz="3000" dirty="0"/>
          </a:p>
        </p:txBody>
      </p:sp>
      <p:sp>
        <p:nvSpPr>
          <p:cNvPr id="3" name="Text 1"/>
          <p:cNvSpPr/>
          <p:nvPr/>
        </p:nvSpPr>
        <p:spPr>
          <a:xfrm>
            <a:off x="457200" y="749808"/>
            <a:ext cx="8229600" cy="274320"/>
          </a:xfrm>
          <a:prstGeom prst="rect">
            <a:avLst/>
          </a:prstGeom>
          <a:noFill/>
          <a:ln/>
        </p:spPr>
        <p:txBody>
          <a:bodyPr wrap="square" lIns="0" tIns="0" rIns="0" bIns="0" rtlCol="0" anchor="ctr"/>
          <a:lstStyle/>
          <a:p>
            <a:pPr indent="0" marL="0">
              <a:buNone/>
            </a:pPr>
            <a:r>
              <a:rPr lang="en-US" sz="1300" dirty="0">
                <a:solidFill>
                  <a:srgbClr val="7A7870"/>
                </a:solidFill>
                <a:latin typeface="Calibri" pitchFamily="34" charset="0"/>
                <a:ea typeface="Calibri" pitchFamily="34" charset="-122"/>
                <a:cs typeface="Calibri" pitchFamily="34" charset="-120"/>
              </a:rPr>
              <a:t>Each tied directly to a finding — not general observations</a:t>
            </a:r>
            <a:endParaRPr lang="en-US" sz="1300" dirty="0"/>
          </a:p>
        </p:txBody>
      </p:sp>
      <p:sp>
        <p:nvSpPr>
          <p:cNvPr id="4" name="Shape 2"/>
          <p:cNvSpPr/>
          <p:nvPr/>
        </p:nvSpPr>
        <p:spPr>
          <a:xfrm>
            <a:off x="457200" y="1188720"/>
            <a:ext cx="8412480" cy="1097280"/>
          </a:xfrm>
          <a:prstGeom prst="rect">
            <a:avLst/>
          </a:prstGeom>
          <a:solidFill>
            <a:srgbClr val="1C1E27"/>
          </a:solidFill>
          <a:ln w="6350">
            <a:solidFill>
              <a:srgbClr val="E8834A"/>
            </a:solidFill>
            <a:prstDash val="solid"/>
          </a:ln>
        </p:spPr>
      </p:sp>
      <p:sp>
        <p:nvSpPr>
          <p:cNvPr id="5" name="Text 3"/>
          <p:cNvSpPr/>
          <p:nvPr/>
        </p:nvSpPr>
        <p:spPr>
          <a:xfrm>
            <a:off x="548640" y="1280160"/>
            <a:ext cx="640080" cy="914400"/>
          </a:xfrm>
          <a:prstGeom prst="rect">
            <a:avLst/>
          </a:prstGeom>
          <a:noFill/>
          <a:ln/>
        </p:spPr>
        <p:txBody>
          <a:bodyPr wrap="square" lIns="0" tIns="0" rIns="0" bIns="0" rtlCol="0" anchor="ctr"/>
          <a:lstStyle/>
          <a:p>
            <a:pPr algn="ctr" indent="0" marL="0">
              <a:buNone/>
            </a:pPr>
            <a:r>
              <a:rPr lang="en-US" sz="2800" b="1" dirty="0">
                <a:solidFill>
                  <a:srgbClr val="E8834A"/>
                </a:solidFill>
                <a:latin typeface="Georgia" pitchFamily="34" charset="0"/>
                <a:ea typeface="Georgia" pitchFamily="34" charset="-122"/>
                <a:cs typeface="Georgia" pitchFamily="34" charset="-120"/>
              </a:rPr>
              <a:t>01</a:t>
            </a:r>
            <a:endParaRPr lang="en-US" sz="2800" dirty="0"/>
          </a:p>
        </p:txBody>
      </p:sp>
      <p:sp>
        <p:nvSpPr>
          <p:cNvPr id="6" name="Text 4"/>
          <p:cNvSpPr/>
          <p:nvPr/>
        </p:nvSpPr>
        <p:spPr>
          <a:xfrm>
            <a:off x="1325880" y="1280160"/>
            <a:ext cx="5943600" cy="320040"/>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Immigrant Rent Supplements — Toronto &amp; Vancouver</a:t>
            </a:r>
            <a:endParaRPr lang="en-US" sz="1300" dirty="0"/>
          </a:p>
        </p:txBody>
      </p:sp>
      <p:sp>
        <p:nvSpPr>
          <p:cNvPr id="7" name="Text 5"/>
          <p:cNvSpPr/>
          <p:nvPr/>
        </p:nvSpPr>
        <p:spPr>
          <a:xfrm>
            <a:off x="1325880" y="1627632"/>
            <a:ext cx="5943600" cy="548640"/>
          </a:xfrm>
          <a:prstGeom prst="rect">
            <a:avLst/>
          </a:prstGeom>
          <a:noFill/>
          <a:ln/>
        </p:spPr>
        <p:txBody>
          <a:bodyPr wrap="square" lIns="0" tIns="0" rIns="0" bIns="0" rtlCol="0" anchor="ctr"/>
          <a:lstStyle/>
          <a:p>
            <a:pPr indent="0" marL="0">
              <a:lnSpc>
                <a:spcPct val="140000"/>
              </a:lnSpc>
              <a:buNone/>
            </a:pPr>
            <a:r>
              <a:rPr lang="en-US" sz="1000" dirty="0">
                <a:solidFill>
                  <a:srgbClr val="7A7870"/>
                </a:solidFill>
                <a:latin typeface="Calibri" pitchFamily="34" charset="0"/>
                <a:ea typeface="Calibri" pitchFamily="34" charset="-122"/>
                <a:cs typeface="Calibri" pitchFamily="34" charset="-120"/>
              </a:rPr>
              <a:t>Target households in the top IHSI neighbourhoods. Concentrate support in the first 5 years after landing, when immigrants are almost always new tenants absorbing the full turnover rent premium.</a:t>
            </a:r>
            <a:endParaRPr lang="en-US" sz="1000" dirty="0"/>
          </a:p>
        </p:txBody>
      </p:sp>
      <p:sp>
        <p:nvSpPr>
          <p:cNvPr id="8" name="Text 6"/>
          <p:cNvSpPr/>
          <p:nvPr/>
        </p:nvSpPr>
        <p:spPr>
          <a:xfrm>
            <a:off x="7406640" y="1280160"/>
            <a:ext cx="1371600" cy="914400"/>
          </a:xfrm>
          <a:prstGeom prst="rect">
            <a:avLst/>
          </a:prstGeom>
          <a:noFill/>
          <a:ln/>
        </p:spPr>
        <p:txBody>
          <a:bodyPr wrap="square" lIns="0" tIns="0" rIns="0" bIns="0" rtlCol="0" anchor="ctr"/>
          <a:lstStyle/>
          <a:p>
            <a:pPr indent="0" marL="0">
              <a:buNone/>
            </a:pPr>
            <a:r>
              <a:rPr lang="en-US" sz="900" i="1" dirty="0">
                <a:solidFill>
                  <a:srgbClr val="E8834A"/>
                </a:solidFill>
                <a:latin typeface="Calibri" pitchFamily="34" charset="0"/>
                <a:ea typeface="Calibri" pitchFamily="34" charset="-122"/>
                <a:cs typeface="Calibri" pitchFamily="34" charset="-120"/>
              </a:rPr>
              <a:t>Finding: Toronto penalty +5.37pp (p&lt;0.01)</a:t>
            </a:r>
            <a:endParaRPr lang="en-US" sz="900" dirty="0"/>
          </a:p>
        </p:txBody>
      </p:sp>
      <p:sp>
        <p:nvSpPr>
          <p:cNvPr id="9" name="Shape 7"/>
          <p:cNvSpPr/>
          <p:nvPr/>
        </p:nvSpPr>
        <p:spPr>
          <a:xfrm>
            <a:off x="457200" y="2450592"/>
            <a:ext cx="8412480" cy="1097280"/>
          </a:xfrm>
          <a:prstGeom prst="rect">
            <a:avLst/>
          </a:prstGeom>
          <a:solidFill>
            <a:srgbClr val="1C1E27"/>
          </a:solidFill>
          <a:ln w="6350">
            <a:solidFill>
              <a:srgbClr val="5B9BD5"/>
            </a:solidFill>
            <a:prstDash val="solid"/>
          </a:ln>
        </p:spPr>
      </p:sp>
      <p:sp>
        <p:nvSpPr>
          <p:cNvPr id="10" name="Text 8"/>
          <p:cNvSpPr/>
          <p:nvPr/>
        </p:nvSpPr>
        <p:spPr>
          <a:xfrm>
            <a:off x="548640" y="2542032"/>
            <a:ext cx="640080" cy="914400"/>
          </a:xfrm>
          <a:prstGeom prst="rect">
            <a:avLst/>
          </a:prstGeom>
          <a:noFill/>
          <a:ln/>
        </p:spPr>
        <p:txBody>
          <a:bodyPr wrap="square" lIns="0" tIns="0" rIns="0" bIns="0" rtlCol="0" anchor="ctr"/>
          <a:lstStyle/>
          <a:p>
            <a:pPr algn="ctr" indent="0" marL="0">
              <a:buNone/>
            </a:pPr>
            <a:r>
              <a:rPr lang="en-US" sz="2800" b="1" dirty="0">
                <a:solidFill>
                  <a:srgbClr val="5B9BD5"/>
                </a:solidFill>
                <a:latin typeface="Georgia" pitchFamily="34" charset="0"/>
                <a:ea typeface="Georgia" pitchFamily="34" charset="-122"/>
                <a:cs typeface="Georgia" pitchFamily="34" charset="-120"/>
              </a:rPr>
              <a:t>02</a:t>
            </a:r>
            <a:endParaRPr lang="en-US" sz="2800" dirty="0"/>
          </a:p>
        </p:txBody>
      </p:sp>
      <p:sp>
        <p:nvSpPr>
          <p:cNvPr id="11" name="Text 9"/>
          <p:cNvSpPr/>
          <p:nvPr/>
        </p:nvSpPr>
        <p:spPr>
          <a:xfrm>
            <a:off x="1325880" y="2542032"/>
            <a:ext cx="5943600" cy="320040"/>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Turnover Rent Transparency</a:t>
            </a:r>
            <a:endParaRPr lang="en-US" sz="1300" dirty="0"/>
          </a:p>
        </p:txBody>
      </p:sp>
      <p:sp>
        <p:nvSpPr>
          <p:cNvPr id="12" name="Text 10"/>
          <p:cNvSpPr/>
          <p:nvPr/>
        </p:nvSpPr>
        <p:spPr>
          <a:xfrm>
            <a:off x="1325880" y="2889504"/>
            <a:ext cx="5943600" cy="548640"/>
          </a:xfrm>
          <a:prstGeom prst="rect">
            <a:avLst/>
          </a:prstGeom>
          <a:noFill/>
          <a:ln/>
        </p:spPr>
        <p:txBody>
          <a:bodyPr wrap="square" lIns="0" tIns="0" rIns="0" bIns="0" rtlCol="0" anchor="ctr"/>
          <a:lstStyle/>
          <a:p>
            <a:pPr indent="0" marL="0">
              <a:lnSpc>
                <a:spcPct val="140000"/>
              </a:lnSpc>
              <a:buNone/>
            </a:pPr>
            <a:r>
              <a:rPr lang="en-US" sz="1000" dirty="0">
                <a:solidFill>
                  <a:srgbClr val="7A7870"/>
                </a:solidFill>
                <a:latin typeface="Calibri" pitchFamily="34" charset="0"/>
                <a:ea typeface="Calibri" pitchFamily="34" charset="-122"/>
                <a:cs typeface="Calibri" pitchFamily="34" charset="-120"/>
              </a:rPr>
              <a:t>Require landlords to disclose what the previous tenant paid at the point of signing a new lease. New tenants — disproportionately immigrants — need this information to challenge excessive increases.</a:t>
            </a:r>
            <a:endParaRPr lang="en-US" sz="1000" dirty="0"/>
          </a:p>
        </p:txBody>
      </p:sp>
      <p:sp>
        <p:nvSpPr>
          <p:cNvPr id="13" name="Text 11"/>
          <p:cNvSpPr/>
          <p:nvPr/>
        </p:nvSpPr>
        <p:spPr>
          <a:xfrm>
            <a:off x="7406640" y="2542032"/>
            <a:ext cx="1371600" cy="914400"/>
          </a:xfrm>
          <a:prstGeom prst="rect">
            <a:avLst/>
          </a:prstGeom>
          <a:noFill/>
          <a:ln/>
        </p:spPr>
        <p:txBody>
          <a:bodyPr wrap="square" lIns="0" tIns="0" rIns="0" bIns="0" rtlCol="0" anchor="ctr"/>
          <a:lstStyle/>
          <a:p>
            <a:pPr indent="0" marL="0">
              <a:buNone/>
            </a:pPr>
            <a:r>
              <a:rPr lang="en-US" sz="900" i="1" dirty="0">
                <a:solidFill>
                  <a:srgbClr val="5B9BD5"/>
                </a:solidFill>
                <a:latin typeface="Calibri" pitchFamily="34" charset="0"/>
                <a:ea typeface="Calibri" pitchFamily="34" charset="-122"/>
                <a:cs typeface="Calibri" pitchFamily="34" charset="-120"/>
              </a:rPr>
              <a:t>Finding: New tenants paid 44% more in Toronto (CMHC 2024)</a:t>
            </a:r>
            <a:endParaRPr lang="en-US" sz="900" dirty="0"/>
          </a:p>
        </p:txBody>
      </p:sp>
      <p:sp>
        <p:nvSpPr>
          <p:cNvPr id="14" name="Shape 12"/>
          <p:cNvSpPr/>
          <p:nvPr/>
        </p:nvSpPr>
        <p:spPr>
          <a:xfrm>
            <a:off x="457200" y="3712464"/>
            <a:ext cx="8412480" cy="1097280"/>
          </a:xfrm>
          <a:prstGeom prst="rect">
            <a:avLst/>
          </a:prstGeom>
          <a:solidFill>
            <a:srgbClr val="1C1E27"/>
          </a:solidFill>
          <a:ln w="6350">
            <a:solidFill>
              <a:srgbClr val="8E75C9"/>
            </a:solidFill>
            <a:prstDash val="solid"/>
          </a:ln>
        </p:spPr>
      </p:sp>
      <p:sp>
        <p:nvSpPr>
          <p:cNvPr id="15" name="Text 13"/>
          <p:cNvSpPr/>
          <p:nvPr/>
        </p:nvSpPr>
        <p:spPr>
          <a:xfrm>
            <a:off x="548640" y="3803904"/>
            <a:ext cx="640080" cy="914400"/>
          </a:xfrm>
          <a:prstGeom prst="rect">
            <a:avLst/>
          </a:prstGeom>
          <a:noFill/>
          <a:ln/>
        </p:spPr>
        <p:txBody>
          <a:bodyPr wrap="square" lIns="0" tIns="0" rIns="0" bIns="0" rtlCol="0" anchor="ctr"/>
          <a:lstStyle/>
          <a:p>
            <a:pPr algn="ctr" indent="0" marL="0">
              <a:buNone/>
            </a:pPr>
            <a:r>
              <a:rPr lang="en-US" sz="2800" b="1" dirty="0">
                <a:solidFill>
                  <a:srgbClr val="8E75C9"/>
                </a:solidFill>
                <a:latin typeface="Georgia" pitchFamily="34" charset="0"/>
                <a:ea typeface="Georgia" pitchFamily="34" charset="-122"/>
                <a:cs typeface="Georgia" pitchFamily="34" charset="-120"/>
              </a:rPr>
              <a:t>03</a:t>
            </a:r>
            <a:endParaRPr lang="en-US" sz="2800" dirty="0"/>
          </a:p>
        </p:txBody>
      </p:sp>
      <p:sp>
        <p:nvSpPr>
          <p:cNvPr id="16" name="Text 14"/>
          <p:cNvSpPr/>
          <p:nvPr/>
        </p:nvSpPr>
        <p:spPr>
          <a:xfrm>
            <a:off x="1325880" y="3803904"/>
            <a:ext cx="5943600" cy="320040"/>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Renter Trap Neighbourhood Monitoring</a:t>
            </a:r>
            <a:endParaRPr lang="en-US" sz="1300" dirty="0"/>
          </a:p>
        </p:txBody>
      </p:sp>
      <p:sp>
        <p:nvSpPr>
          <p:cNvPr id="17" name="Text 15"/>
          <p:cNvSpPr/>
          <p:nvPr/>
        </p:nvSpPr>
        <p:spPr>
          <a:xfrm>
            <a:off x="1325880" y="4151376"/>
            <a:ext cx="5943600" cy="548640"/>
          </a:xfrm>
          <a:prstGeom prst="rect">
            <a:avLst/>
          </a:prstGeom>
          <a:noFill/>
          <a:ln/>
        </p:spPr>
        <p:txBody>
          <a:bodyPr wrap="square" lIns="0" tIns="0" rIns="0" bIns="0" rtlCol="0" anchor="ctr"/>
          <a:lstStyle/>
          <a:p>
            <a:pPr indent="0" marL="0">
              <a:lnSpc>
                <a:spcPct val="140000"/>
              </a:lnSpc>
              <a:buNone/>
            </a:pPr>
            <a:r>
              <a:rPr lang="en-US" sz="1000" dirty="0">
                <a:solidFill>
                  <a:srgbClr val="7A7870"/>
                </a:solidFill>
                <a:latin typeface="Calibri" pitchFamily="34" charset="0"/>
                <a:ea typeface="Calibri" pitchFamily="34" charset="-122"/>
                <a:cs typeface="Calibri" pitchFamily="34" charset="-120"/>
              </a:rPr>
              <a:t>Use the IHSI to identify and prioritize the 34 Renter Trap communities whose aggregate STIR looks acceptable but whose immigrant renter STIR is severe. These neighbourhoods are invisible to conventional policy tools.</a:t>
            </a:r>
            <a:endParaRPr lang="en-US" sz="1000" dirty="0"/>
          </a:p>
        </p:txBody>
      </p:sp>
      <p:sp>
        <p:nvSpPr>
          <p:cNvPr id="18" name="Text 16"/>
          <p:cNvSpPr/>
          <p:nvPr/>
        </p:nvSpPr>
        <p:spPr>
          <a:xfrm>
            <a:off x="7406640" y="3803904"/>
            <a:ext cx="1371600" cy="914400"/>
          </a:xfrm>
          <a:prstGeom prst="rect">
            <a:avLst/>
          </a:prstGeom>
          <a:noFill/>
          <a:ln/>
        </p:spPr>
        <p:txBody>
          <a:bodyPr wrap="square" lIns="0" tIns="0" rIns="0" bIns="0" rtlCol="0" anchor="ctr"/>
          <a:lstStyle/>
          <a:p>
            <a:pPr indent="0" marL="0">
              <a:buNone/>
            </a:pPr>
            <a:r>
              <a:rPr lang="en-US" sz="900" i="1" dirty="0">
                <a:solidFill>
                  <a:srgbClr val="8E75C9"/>
                </a:solidFill>
                <a:latin typeface="Calibri" pitchFamily="34" charset="0"/>
                <a:ea typeface="Calibri" pitchFamily="34" charset="-122"/>
                <a:cs typeface="Calibri" pitchFamily="34" charset="-120"/>
              </a:rPr>
              <a:t>Finding: Cluster 2 avg renter STIR 26.1% vs total STIR 19.5%</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F1117"/>
        </a:solidFill>
      </p:bgPr>
    </p:bg>
    <p:spTree>
      <p:nvGrpSpPr>
        <p:cNvPr id="1" name=""/>
        <p:cNvGrpSpPr/>
        <p:nvPr/>
      </p:nvGrpSpPr>
      <p:grpSpPr>
        <a:xfrm>
          <a:off x="0" y="0"/>
          <a:ext cx="0" cy="0"/>
          <a:chOff x="0" y="0"/>
          <a:chExt cx="0" cy="0"/>
        </a:xfrm>
      </p:grpSpPr>
      <p:sp>
        <p:nvSpPr>
          <p:cNvPr id="2" name="Shape 0"/>
          <p:cNvSpPr/>
          <p:nvPr/>
        </p:nvSpPr>
        <p:spPr>
          <a:xfrm>
            <a:off x="0" y="0"/>
            <a:ext cx="54864" cy="5143500"/>
          </a:xfrm>
          <a:prstGeom prst="rect">
            <a:avLst/>
          </a:prstGeom>
          <a:solidFill>
            <a:srgbClr val="E8834A"/>
          </a:solidFill>
          <a:ln w="12700">
            <a:solidFill>
              <a:srgbClr val="E8834A"/>
            </a:solidFill>
            <a:prstDash val="solid"/>
          </a:ln>
        </p:spPr>
      </p:sp>
      <p:sp>
        <p:nvSpPr>
          <p:cNvPr id="3" name="Text 1"/>
          <p:cNvSpPr/>
          <p:nvPr/>
        </p:nvSpPr>
        <p:spPr>
          <a:xfrm>
            <a:off x="365760" y="320040"/>
            <a:ext cx="8229600" cy="457200"/>
          </a:xfrm>
          <a:prstGeom prst="rect">
            <a:avLst/>
          </a:prstGeom>
          <a:noFill/>
          <a:ln/>
        </p:spPr>
        <p:txBody>
          <a:bodyPr wrap="square" lIns="0" tIns="0" rIns="0" bIns="0" rtlCol="0" anchor="ctr"/>
          <a:lstStyle/>
          <a:p>
            <a:pPr indent="0" marL="0">
              <a:buNone/>
            </a:pPr>
            <a:r>
              <a:rPr lang="en-US" sz="1200" b="1" spc="200" kern="0" dirty="0">
                <a:solidFill>
                  <a:srgbClr val="E8834A"/>
                </a:solidFill>
                <a:latin typeface="Calibri" pitchFamily="34" charset="0"/>
                <a:ea typeface="Calibri" pitchFamily="34" charset="-122"/>
                <a:cs typeface="Calibri" pitchFamily="34" charset="-120"/>
              </a:rPr>
              <a:t>What We Found</a:t>
            </a:r>
            <a:endParaRPr lang="en-US" sz="1200" dirty="0"/>
          </a:p>
        </p:txBody>
      </p:sp>
      <p:sp>
        <p:nvSpPr>
          <p:cNvPr id="4" name="Text 2"/>
          <p:cNvSpPr/>
          <p:nvPr/>
        </p:nvSpPr>
        <p:spPr>
          <a:xfrm>
            <a:off x="365760" y="822960"/>
            <a:ext cx="7315200" cy="1371600"/>
          </a:xfrm>
          <a:prstGeom prst="rect">
            <a:avLst/>
          </a:prstGeom>
          <a:noFill/>
          <a:ln/>
        </p:spPr>
        <p:txBody>
          <a:bodyPr wrap="square" lIns="0" tIns="0" rIns="0" bIns="0" rtlCol="0" anchor="ctr"/>
          <a:lstStyle/>
          <a:p>
            <a:pPr indent="0" marL="0">
              <a:lnSpc>
                <a:spcPct val="120000"/>
              </a:lnSpc>
              <a:buNone/>
            </a:pPr>
            <a:r>
              <a:rPr lang="en-US" sz="3800" b="1" dirty="0">
                <a:solidFill>
                  <a:srgbClr val="FFFFFF"/>
                </a:solidFill>
                <a:latin typeface="Georgia" pitchFamily="34" charset="0"/>
                <a:ea typeface="Georgia" pitchFamily="34" charset="-122"/>
                <a:cs typeface="Georgia" pitchFamily="34" charset="-120"/>
              </a:rPr>
              <a:t>The Invisible Tax is real,</a:t>
            </a:r>
            <a:endParaRPr lang="en-US" sz="3800" dirty="0"/>
          </a:p>
          <a:p>
            <a:pPr indent="0" marL="0">
              <a:lnSpc>
                <a:spcPct val="120000"/>
              </a:lnSpc>
              <a:buNone/>
            </a:pPr>
            <a:r>
              <a:rPr lang="en-US" sz="3800" b="1" dirty="0">
                <a:solidFill>
                  <a:srgbClr val="FFFFFF"/>
                </a:solidFill>
                <a:latin typeface="Georgia" pitchFamily="34" charset="0"/>
                <a:ea typeface="Georgia" pitchFamily="34" charset="-122"/>
                <a:cs typeface="Georgia" pitchFamily="34" charset="-120"/>
              </a:rPr>
              <a:t>measurable, and fixable.</a:t>
            </a:r>
            <a:endParaRPr lang="en-US" sz="3800" dirty="0"/>
          </a:p>
        </p:txBody>
      </p:sp>
      <p:sp>
        <p:nvSpPr>
          <p:cNvPr id="5" name="Shape 3"/>
          <p:cNvSpPr/>
          <p:nvPr/>
        </p:nvSpPr>
        <p:spPr>
          <a:xfrm>
            <a:off x="365760" y="2468880"/>
            <a:ext cx="2606040" cy="1554480"/>
          </a:xfrm>
          <a:prstGeom prst="rect">
            <a:avLst/>
          </a:prstGeom>
          <a:solidFill>
            <a:srgbClr val="1C1E27"/>
          </a:solidFill>
          <a:ln w="12700">
            <a:solidFill>
              <a:srgbClr val="2A2D38"/>
            </a:solidFill>
            <a:prstDash val="solid"/>
          </a:ln>
        </p:spPr>
      </p:sp>
      <p:sp>
        <p:nvSpPr>
          <p:cNvPr id="6" name="Text 4"/>
          <p:cNvSpPr/>
          <p:nvPr/>
        </p:nvSpPr>
        <p:spPr>
          <a:xfrm>
            <a:off x="365760" y="2560320"/>
            <a:ext cx="2606040" cy="685800"/>
          </a:xfrm>
          <a:prstGeom prst="rect">
            <a:avLst/>
          </a:prstGeom>
          <a:noFill/>
          <a:ln/>
        </p:spPr>
        <p:txBody>
          <a:bodyPr wrap="square" lIns="0" tIns="0" rIns="0" bIns="0" rtlCol="0" anchor="ctr"/>
          <a:lstStyle/>
          <a:p>
            <a:pPr algn="ctr" indent="0" marL="0">
              <a:buNone/>
            </a:pPr>
            <a:r>
              <a:rPr lang="en-US" sz="3800" b="1" dirty="0">
                <a:solidFill>
                  <a:srgbClr val="E8834A"/>
                </a:solidFill>
                <a:latin typeface="Georgia" pitchFamily="34" charset="0"/>
                <a:ea typeface="Georgia" pitchFamily="34" charset="-122"/>
                <a:cs typeface="Georgia" pitchFamily="34" charset="-120"/>
              </a:rPr>
              <a:t>2.92pp</a:t>
            </a:r>
            <a:endParaRPr lang="en-US" sz="3800" dirty="0"/>
          </a:p>
        </p:txBody>
      </p:sp>
      <p:sp>
        <p:nvSpPr>
          <p:cNvPr id="7" name="Text 5"/>
          <p:cNvSpPr/>
          <p:nvPr/>
        </p:nvSpPr>
        <p:spPr>
          <a:xfrm>
            <a:off x="365760" y="3246120"/>
            <a:ext cx="2606040" cy="594360"/>
          </a:xfrm>
          <a:prstGeom prst="rect">
            <a:avLst/>
          </a:prstGeom>
          <a:noFill/>
          <a:ln/>
        </p:spPr>
        <p:txBody>
          <a:bodyPr wrap="square" lIns="0" tIns="0" rIns="0" bIns="0" rtlCol="0" anchor="ctr"/>
          <a:lstStyle/>
          <a:p>
            <a:pPr algn="ctr" indent="0" marL="0">
              <a:lnSpc>
                <a:spcPct val="140000"/>
              </a:lnSpc>
              <a:buNone/>
            </a:pPr>
            <a:r>
              <a:rPr lang="en-US" sz="1000" dirty="0">
                <a:solidFill>
                  <a:srgbClr val="7A7870"/>
                </a:solidFill>
                <a:latin typeface="Calibri" pitchFamily="34" charset="0"/>
                <a:ea typeface="Calibri" pitchFamily="34" charset="-122"/>
                <a:cs typeface="Calibri" pitchFamily="34" charset="-120"/>
              </a:rPr>
              <a:t>Overall immigrant housing penalty</a:t>
            </a:r>
            <a:endParaRPr lang="en-US" sz="1000" dirty="0"/>
          </a:p>
          <a:p>
            <a:pPr algn="ctr" indent="0" marL="0">
              <a:lnSpc>
                <a:spcPct val="140000"/>
              </a:lnSpc>
              <a:buNone/>
            </a:pPr>
            <a:r>
              <a:rPr lang="en-US" sz="1000" dirty="0">
                <a:solidFill>
                  <a:srgbClr val="7A7870"/>
                </a:solidFill>
                <a:latin typeface="Calibri" pitchFamily="34" charset="0"/>
                <a:ea typeface="Calibri" pitchFamily="34" charset="-122"/>
                <a:cs typeface="Calibri" pitchFamily="34" charset="-120"/>
              </a:rPr>
              <a:t>after controlling for income &amp; city</a:t>
            </a:r>
            <a:endParaRPr lang="en-US" sz="1000" dirty="0"/>
          </a:p>
        </p:txBody>
      </p:sp>
      <p:sp>
        <p:nvSpPr>
          <p:cNvPr id="8" name="Shape 6"/>
          <p:cNvSpPr/>
          <p:nvPr/>
        </p:nvSpPr>
        <p:spPr>
          <a:xfrm>
            <a:off x="3246120" y="2468880"/>
            <a:ext cx="2606040" cy="1554480"/>
          </a:xfrm>
          <a:prstGeom prst="rect">
            <a:avLst/>
          </a:prstGeom>
          <a:solidFill>
            <a:srgbClr val="1C1E27"/>
          </a:solidFill>
          <a:ln w="12700">
            <a:solidFill>
              <a:srgbClr val="2A2D38"/>
            </a:solidFill>
            <a:prstDash val="solid"/>
          </a:ln>
        </p:spPr>
      </p:sp>
      <p:sp>
        <p:nvSpPr>
          <p:cNvPr id="9" name="Text 7"/>
          <p:cNvSpPr/>
          <p:nvPr/>
        </p:nvSpPr>
        <p:spPr>
          <a:xfrm>
            <a:off x="3246120" y="2560320"/>
            <a:ext cx="2606040" cy="685800"/>
          </a:xfrm>
          <a:prstGeom prst="rect">
            <a:avLst/>
          </a:prstGeom>
          <a:noFill/>
          <a:ln/>
        </p:spPr>
        <p:txBody>
          <a:bodyPr wrap="square" lIns="0" tIns="0" rIns="0" bIns="0" rtlCol="0" anchor="ctr"/>
          <a:lstStyle/>
          <a:p>
            <a:pPr algn="ctr" indent="0" marL="0">
              <a:buNone/>
            </a:pPr>
            <a:r>
              <a:rPr lang="en-US" sz="3800" b="1" dirty="0">
                <a:solidFill>
                  <a:srgbClr val="E8834A"/>
                </a:solidFill>
                <a:latin typeface="Georgia" pitchFamily="34" charset="0"/>
                <a:ea typeface="Georgia" pitchFamily="34" charset="-122"/>
                <a:cs typeface="Georgia" pitchFamily="34" charset="-120"/>
              </a:rPr>
              <a:t>5.37pp</a:t>
            </a:r>
            <a:endParaRPr lang="en-US" sz="3800" dirty="0"/>
          </a:p>
        </p:txBody>
      </p:sp>
      <p:sp>
        <p:nvSpPr>
          <p:cNvPr id="10" name="Text 8"/>
          <p:cNvSpPr/>
          <p:nvPr/>
        </p:nvSpPr>
        <p:spPr>
          <a:xfrm>
            <a:off x="3246120" y="3246120"/>
            <a:ext cx="2606040" cy="594360"/>
          </a:xfrm>
          <a:prstGeom prst="rect">
            <a:avLst/>
          </a:prstGeom>
          <a:noFill/>
          <a:ln/>
        </p:spPr>
        <p:txBody>
          <a:bodyPr wrap="square" lIns="0" tIns="0" rIns="0" bIns="0" rtlCol="0" anchor="ctr"/>
          <a:lstStyle/>
          <a:p>
            <a:pPr algn="ctr" indent="0" marL="0">
              <a:lnSpc>
                <a:spcPct val="140000"/>
              </a:lnSpc>
              <a:buNone/>
            </a:pPr>
            <a:r>
              <a:rPr lang="en-US" sz="1000" dirty="0">
                <a:solidFill>
                  <a:srgbClr val="7A7870"/>
                </a:solidFill>
                <a:latin typeface="Calibri" pitchFamily="34" charset="0"/>
                <a:ea typeface="Calibri" pitchFamily="34" charset="-122"/>
                <a:cs typeface="Calibri" pitchFamily="34" charset="-120"/>
              </a:rPr>
              <a:t>Toronto-specific penalty</a:t>
            </a:r>
            <a:endParaRPr lang="en-US" sz="1000" dirty="0"/>
          </a:p>
          <a:p>
            <a:pPr algn="ctr" indent="0" marL="0">
              <a:lnSpc>
                <a:spcPct val="140000"/>
              </a:lnSpc>
              <a:buNone/>
            </a:pPr>
            <a:r>
              <a:rPr lang="en-US" sz="1000" dirty="0">
                <a:solidFill>
                  <a:srgbClr val="7A7870"/>
                </a:solidFill>
                <a:latin typeface="Calibri" pitchFamily="34" charset="0"/>
                <a:ea typeface="Calibri" pitchFamily="34" charset="-122"/>
                <a:cs typeface="Calibri" pitchFamily="34" charset="-120"/>
              </a:rPr>
              <a:t>(p&lt;0.01, statistically significant)</a:t>
            </a:r>
            <a:endParaRPr lang="en-US" sz="1000" dirty="0"/>
          </a:p>
        </p:txBody>
      </p:sp>
      <p:sp>
        <p:nvSpPr>
          <p:cNvPr id="11" name="Shape 9"/>
          <p:cNvSpPr/>
          <p:nvPr/>
        </p:nvSpPr>
        <p:spPr>
          <a:xfrm>
            <a:off x="6126480" y="2468880"/>
            <a:ext cx="2606040" cy="1554480"/>
          </a:xfrm>
          <a:prstGeom prst="rect">
            <a:avLst/>
          </a:prstGeom>
          <a:solidFill>
            <a:srgbClr val="1C1E27"/>
          </a:solidFill>
          <a:ln w="12700">
            <a:solidFill>
              <a:srgbClr val="2A2D38"/>
            </a:solidFill>
            <a:prstDash val="solid"/>
          </a:ln>
        </p:spPr>
      </p:sp>
      <p:sp>
        <p:nvSpPr>
          <p:cNvPr id="12" name="Text 10"/>
          <p:cNvSpPr/>
          <p:nvPr/>
        </p:nvSpPr>
        <p:spPr>
          <a:xfrm>
            <a:off x="6126480" y="2560320"/>
            <a:ext cx="2606040" cy="685800"/>
          </a:xfrm>
          <a:prstGeom prst="rect">
            <a:avLst/>
          </a:prstGeom>
          <a:noFill/>
          <a:ln/>
        </p:spPr>
        <p:txBody>
          <a:bodyPr wrap="square" lIns="0" tIns="0" rIns="0" bIns="0" rtlCol="0" anchor="ctr"/>
          <a:lstStyle/>
          <a:p>
            <a:pPr algn="ctr" indent="0" marL="0">
              <a:buNone/>
            </a:pPr>
            <a:r>
              <a:rPr lang="en-US" sz="3800" b="1" dirty="0">
                <a:solidFill>
                  <a:srgbClr val="E8834A"/>
                </a:solidFill>
                <a:latin typeface="Georgia" pitchFamily="34" charset="0"/>
                <a:ea typeface="Georgia" pitchFamily="34" charset="-122"/>
                <a:cs typeface="Georgia" pitchFamily="34" charset="-120"/>
              </a:rPr>
              <a:t>34</a:t>
            </a:r>
            <a:endParaRPr lang="en-US" sz="3800" dirty="0"/>
          </a:p>
        </p:txBody>
      </p:sp>
      <p:sp>
        <p:nvSpPr>
          <p:cNvPr id="13" name="Text 11"/>
          <p:cNvSpPr/>
          <p:nvPr/>
        </p:nvSpPr>
        <p:spPr>
          <a:xfrm>
            <a:off x="6126480" y="3246120"/>
            <a:ext cx="2606040" cy="594360"/>
          </a:xfrm>
          <a:prstGeom prst="rect">
            <a:avLst/>
          </a:prstGeom>
          <a:noFill/>
          <a:ln/>
        </p:spPr>
        <p:txBody>
          <a:bodyPr wrap="square" lIns="0" tIns="0" rIns="0" bIns="0" rtlCol="0" anchor="ctr"/>
          <a:lstStyle/>
          <a:p>
            <a:pPr algn="ctr" indent="0" marL="0">
              <a:lnSpc>
                <a:spcPct val="140000"/>
              </a:lnSpc>
              <a:buNone/>
            </a:pPr>
            <a:r>
              <a:rPr lang="en-US" sz="1000" dirty="0">
                <a:solidFill>
                  <a:srgbClr val="7A7870"/>
                </a:solidFill>
                <a:latin typeface="Calibri" pitchFamily="34" charset="0"/>
                <a:ea typeface="Calibri" pitchFamily="34" charset="-122"/>
                <a:cs typeface="Calibri" pitchFamily="34" charset="-120"/>
              </a:rPr>
              <a:t>Renter Trap neighbourhoods</a:t>
            </a:r>
            <a:endParaRPr lang="en-US" sz="1000" dirty="0"/>
          </a:p>
          <a:p>
            <a:pPr algn="ctr" indent="0" marL="0">
              <a:lnSpc>
                <a:spcPct val="140000"/>
              </a:lnSpc>
              <a:buNone/>
            </a:pPr>
            <a:r>
              <a:rPr lang="en-US" sz="1000" dirty="0">
                <a:solidFill>
                  <a:srgbClr val="7A7870"/>
                </a:solidFill>
                <a:latin typeface="Calibri" pitchFamily="34" charset="0"/>
                <a:ea typeface="Calibri" pitchFamily="34" charset="-122"/>
                <a:cs typeface="Calibri" pitchFamily="34" charset="-120"/>
              </a:rPr>
              <a:t>hidden by aggregate data</a:t>
            </a:r>
            <a:endParaRPr lang="en-US" sz="1000" dirty="0"/>
          </a:p>
        </p:txBody>
      </p:sp>
      <p:sp>
        <p:nvSpPr>
          <p:cNvPr id="14" name="Text 12"/>
          <p:cNvSpPr/>
          <p:nvPr/>
        </p:nvSpPr>
        <p:spPr>
          <a:xfrm>
            <a:off x="365760" y="4206240"/>
            <a:ext cx="8229600" cy="457200"/>
          </a:xfrm>
          <a:prstGeom prst="rect">
            <a:avLst/>
          </a:prstGeom>
          <a:noFill/>
          <a:ln/>
        </p:spPr>
        <p:txBody>
          <a:bodyPr wrap="square" lIns="0" tIns="0" rIns="0" bIns="0" rtlCol="0" anchor="ctr"/>
          <a:lstStyle/>
          <a:p>
            <a:pPr indent="0" marL="0">
              <a:lnSpc>
                <a:spcPct val="140000"/>
              </a:lnSpc>
              <a:buNone/>
            </a:pPr>
            <a:r>
              <a:rPr lang="en-US" sz="1400" i="1" dirty="0">
                <a:solidFill>
                  <a:srgbClr val="FFFFFF"/>
                </a:solidFill>
                <a:latin typeface="Georgia" pitchFamily="34" charset="0"/>
                <a:ea typeface="Georgia" pitchFamily="34" charset="-122"/>
                <a:cs typeface="Georgia" pitchFamily="34" charset="-120"/>
              </a:rPr>
              <a:t>It is not an immigrant problem. It is a housing market problem that falls hardest on newcomers.</a:t>
            </a:r>
            <a:endParaRPr lang="en-US" sz="1400" dirty="0"/>
          </a:p>
        </p:txBody>
      </p:sp>
      <p:sp>
        <p:nvSpPr>
          <p:cNvPr id="15" name="Text 13"/>
          <p:cNvSpPr/>
          <p:nvPr/>
        </p:nvSpPr>
        <p:spPr>
          <a:xfrm>
            <a:off x="365760" y="4828032"/>
            <a:ext cx="8503920" cy="182880"/>
          </a:xfrm>
          <a:prstGeom prst="rect">
            <a:avLst/>
          </a:prstGeom>
          <a:noFill/>
          <a:ln/>
        </p:spPr>
        <p:txBody>
          <a:bodyPr wrap="square" lIns="0" tIns="0" rIns="0" bIns="0" rtlCol="0" anchor="ctr"/>
          <a:lstStyle/>
          <a:p>
            <a:pPr indent="0" marL="0">
              <a:buNone/>
            </a:pPr>
            <a:r>
              <a:rPr lang="en-US" sz="800" dirty="0">
                <a:solidFill>
                  <a:srgbClr val="7A7870"/>
                </a:solidFill>
                <a:latin typeface="Calibri" pitchFamily="34" charset="0"/>
                <a:ea typeface="Calibri" pitchFamily="34" charset="-122"/>
                <a:cs typeface="Calibri" pitchFamily="34" charset="-120"/>
              </a:rPr>
              <a:t>Data: CMHC Census Subdivision Survey + CMHC Rental Market Report 2025  |  Analysis: Linear Regression, K-Means Clustering, IHSI</a:t>
            </a:r>
            <a:endParaRPr lang="en-US" sz="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8</Slides>
  <Notes>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vt:i4>
      </vt:variant>
    </vt:vector>
  </HeadingPairs>
  <TitlesOfParts>
    <vt:vector size="11" baseType="lpstr">
      <vt:lpstr>Arial</vt:lpstr>
      <vt:lpstr>Calibri</vt:lpstr>
      <vt:lpstr>Office Theme</vt:lpstr>
      <vt:lpstr>Slide 1</vt:lpstr>
      <vt:lpstr>Slide 2</vt:lpstr>
      <vt:lpstr>Slide 3</vt:lpstr>
      <vt:lpstr>Slide 4</vt:lpstr>
      <vt:lpstr>Slide 5</vt:lpstr>
      <vt:lpstr>Slide 6</vt:lpstr>
      <vt:lpstr>Slide 7</vt:lpstr>
      <vt:lpstr>Slide 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The Invisible Tax</dc:title>
  <dc:subject>PptxGenJS Presentation</dc:subject>
  <dc:creator>PptxGenJS</dc:creator>
  <cp:lastModifiedBy>PptxGenJS</cp:lastModifiedBy>
  <cp:revision>1</cp:revision>
  <dcterms:created xsi:type="dcterms:W3CDTF">2026-05-10T20:12:27Z</dcterms:created>
  <dcterms:modified xsi:type="dcterms:W3CDTF">2026-05-10T20:12:27Z</dcterms:modified>
</cp:coreProperties>
</file>